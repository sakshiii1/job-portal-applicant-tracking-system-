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89" r:id="rId3"/>
    <p:sldId id="257" r:id="rId4"/>
    <p:sldId id="258" r:id="rId5"/>
    <p:sldId id="270" r:id="rId6"/>
    <p:sldId id="272" r:id="rId7"/>
    <p:sldId id="273" r:id="rId8"/>
    <p:sldId id="274" r:id="rId9"/>
    <p:sldId id="275" r:id="rId10"/>
    <p:sldId id="284" r:id="rId11"/>
    <p:sldId id="283" r:id="rId12"/>
    <p:sldId id="267" r:id="rId13"/>
    <p:sldId id="287" r:id="rId14"/>
    <p:sldId id="288" r:id="rId15"/>
    <p:sldId id="262" r:id="rId16"/>
    <p:sldId id="285" r:id="rId17"/>
    <p:sldId id="269" r:id="rId18"/>
  </p:sldIdLst>
  <p:sldSz cx="18288000" cy="10287000"/>
  <p:notesSz cx="6858000" cy="9144000"/>
  <p:embeddedFontLst>
    <p:embeddedFont>
      <p:font typeface="Futura" panose="020B0604020202020204" charset="0"/>
      <p:regular r:id="rId19"/>
    </p:embeddedFont>
    <p:embeddedFont>
      <p:font typeface="League Spartan" panose="020B0604020202020204" charset="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F567A6E-9D22-4E23-8065-0DD3B4001BEF}" v="120" dt="2026-02-18T14:13:08.18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719" autoAdjust="0"/>
    <p:restoredTop sz="94622" autoAdjust="0"/>
  </p:normalViewPr>
  <p:slideViewPr>
    <p:cSldViewPr>
      <p:cViewPr varScale="1">
        <p:scale>
          <a:sx n="55" d="100"/>
          <a:sy n="55" d="100"/>
        </p:scale>
        <p:origin x="610" y="5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image" Target="../media/image5.sv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svg"/></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svg"/><Relationship Id="rId7" Type="http://schemas.openxmlformats.org/officeDocument/2006/relationships/image" Target="../media/image13.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3.sv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5.svg"/><Relationship Id="rId7" Type="http://schemas.openxmlformats.org/officeDocument/2006/relationships/image" Target="../media/image13.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2.png"/><Relationship Id="rId11" Type="http://schemas.openxmlformats.org/officeDocument/2006/relationships/image" Target="../media/image16.png"/><Relationship Id="rId5" Type="http://schemas.openxmlformats.org/officeDocument/2006/relationships/image" Target="../media/image3.svg"/><Relationship Id="rId10" Type="http://schemas.openxmlformats.org/officeDocument/2006/relationships/image" Target="../media/image15.png"/><Relationship Id="rId4" Type="http://schemas.openxmlformats.org/officeDocument/2006/relationships/image" Target="../media/image2.png"/><Relationship Id="rId9" Type="http://schemas.microsoft.com/office/2007/relationships/hdphoto" Target="../media/hdphoto1.wdp"/></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svg"/><Relationship Id="rId7" Type="http://schemas.openxmlformats.org/officeDocument/2006/relationships/image" Target="../media/image13.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3.sv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5.svg"/><Relationship Id="rId7" Type="http://schemas.openxmlformats.org/officeDocument/2006/relationships/image" Target="../media/image13.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3.sv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5.svg"/><Relationship Id="rId7" Type="http://schemas.openxmlformats.org/officeDocument/2006/relationships/image" Target="../media/image11.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7.sv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11.sv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11.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5.sv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5.svg"/><Relationship Id="rId7" Type="http://schemas.openxmlformats.org/officeDocument/2006/relationships/image" Target="../media/image11.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7.svg"/><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image" Target="../media/image5.sv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B6230017-047A-E439-E7FF-0D8ADD42B0AF}"/>
              </a:ext>
            </a:extLst>
          </p:cNvPr>
          <p:cNvPicPr>
            <a:picLocks noChangeAspect="1" noChangeArrowheads="1"/>
          </p:cNvPicPr>
          <p:nvPr/>
        </p:nvPicPr>
        <p:blipFill>
          <a:blip r:embed="rId2" cstate="print"/>
          <a:srcRect/>
          <a:stretch>
            <a:fillRect/>
          </a:stretch>
        </p:blipFill>
        <p:spPr bwMode="auto">
          <a:xfrm>
            <a:off x="0" y="-38101"/>
            <a:ext cx="18288000" cy="2422830"/>
          </a:xfrm>
          <a:prstGeom prst="rect">
            <a:avLst/>
          </a:prstGeom>
          <a:noFill/>
        </p:spPr>
      </p:pic>
      <p:sp>
        <p:nvSpPr>
          <p:cNvPr id="18" name="TextBox 17">
            <a:extLst>
              <a:ext uri="{FF2B5EF4-FFF2-40B4-BE49-F238E27FC236}">
                <a16:creationId xmlns:a16="http://schemas.microsoft.com/office/drawing/2014/main" id="{AD9526D3-5886-6B57-E996-5BAC22233A09}"/>
              </a:ext>
            </a:extLst>
          </p:cNvPr>
          <p:cNvSpPr txBox="1"/>
          <p:nvPr/>
        </p:nvSpPr>
        <p:spPr>
          <a:xfrm>
            <a:off x="6096000" y="4956040"/>
            <a:ext cx="8686800" cy="2862322"/>
          </a:xfrm>
          <a:prstGeom prst="rect">
            <a:avLst/>
          </a:prstGeom>
          <a:noFill/>
        </p:spPr>
        <p:txBody>
          <a:bodyPr wrap="square">
            <a:spAutoFit/>
          </a:bodyPr>
          <a:lstStyle/>
          <a:p>
            <a:r>
              <a:rPr lang="en-IN" sz="3000" b="1" dirty="0">
                <a:latin typeface="Times New Roman" panose="02020603050405020304" pitchFamily="18" charset="0"/>
                <a:cs typeface="Times New Roman" panose="02020603050405020304" pitchFamily="18" charset="0"/>
              </a:rPr>
              <a:t>Team Lead :- </a:t>
            </a:r>
            <a:r>
              <a:rPr lang="en-IN" sz="3000" dirty="0">
                <a:latin typeface="Times New Roman" panose="02020603050405020304" pitchFamily="18" charset="0"/>
                <a:cs typeface="Times New Roman" panose="02020603050405020304" pitchFamily="18" charset="0"/>
              </a:rPr>
              <a:t>Sakshi </a:t>
            </a:r>
            <a:r>
              <a:rPr lang="en-IN" sz="3000" dirty="0" err="1">
                <a:latin typeface="Times New Roman" panose="02020603050405020304" pitchFamily="18" charset="0"/>
                <a:cs typeface="Times New Roman" panose="02020603050405020304" pitchFamily="18" charset="0"/>
              </a:rPr>
              <a:t>Diwate</a:t>
            </a:r>
            <a:r>
              <a:rPr lang="en-IN" sz="3000" dirty="0">
                <a:latin typeface="Times New Roman" panose="02020603050405020304" pitchFamily="18" charset="0"/>
                <a:cs typeface="Times New Roman" panose="02020603050405020304" pitchFamily="18" charset="0"/>
              </a:rPr>
              <a:t> </a:t>
            </a:r>
          </a:p>
          <a:p>
            <a:r>
              <a:rPr lang="en-IN" sz="3000" b="1" dirty="0">
                <a:latin typeface="Times New Roman" panose="02020603050405020304" pitchFamily="18" charset="0"/>
                <a:cs typeface="Times New Roman" panose="02020603050405020304" pitchFamily="18" charset="0"/>
              </a:rPr>
              <a:t>Backend-Auth :- </a:t>
            </a:r>
            <a:r>
              <a:rPr lang="en-IN" sz="3000" dirty="0">
                <a:latin typeface="Times New Roman" panose="02020603050405020304" pitchFamily="18" charset="0"/>
                <a:cs typeface="Times New Roman" panose="02020603050405020304" pitchFamily="18" charset="0"/>
              </a:rPr>
              <a:t>Roshan Jagtap, Rachit </a:t>
            </a:r>
            <a:r>
              <a:rPr lang="en-IN" sz="3000" dirty="0" err="1">
                <a:latin typeface="Times New Roman" panose="02020603050405020304" pitchFamily="18" charset="0"/>
                <a:cs typeface="Times New Roman" panose="02020603050405020304" pitchFamily="18" charset="0"/>
              </a:rPr>
              <a:t>Katkatalware</a:t>
            </a:r>
            <a:endParaRPr lang="en-IN" sz="3000" dirty="0">
              <a:latin typeface="Times New Roman" panose="02020603050405020304" pitchFamily="18" charset="0"/>
              <a:cs typeface="Times New Roman" panose="02020603050405020304" pitchFamily="18" charset="0"/>
            </a:endParaRPr>
          </a:p>
          <a:p>
            <a:r>
              <a:rPr lang="en-IN" sz="3000" b="1" dirty="0">
                <a:latin typeface="Times New Roman" panose="02020603050405020304" pitchFamily="18" charset="0"/>
                <a:cs typeface="Times New Roman" panose="02020603050405020304" pitchFamily="18" charset="0"/>
              </a:rPr>
              <a:t>Backend-Core :- </a:t>
            </a:r>
            <a:r>
              <a:rPr lang="en-IN" sz="3000" dirty="0">
                <a:latin typeface="Times New Roman" panose="02020603050405020304" pitchFamily="18" charset="0"/>
                <a:cs typeface="Times New Roman" panose="02020603050405020304" pitchFamily="18" charset="0"/>
              </a:rPr>
              <a:t>Kshitij Lokhande, Gauri </a:t>
            </a:r>
            <a:r>
              <a:rPr lang="en-IN" sz="3000" dirty="0" err="1">
                <a:latin typeface="Times New Roman" panose="02020603050405020304" pitchFamily="18" charset="0"/>
                <a:cs typeface="Times New Roman" panose="02020603050405020304" pitchFamily="18" charset="0"/>
              </a:rPr>
              <a:t>Badhiye</a:t>
            </a:r>
            <a:endParaRPr lang="en-IN" sz="3000" dirty="0">
              <a:latin typeface="Times New Roman" panose="02020603050405020304" pitchFamily="18" charset="0"/>
              <a:cs typeface="Times New Roman" panose="02020603050405020304" pitchFamily="18" charset="0"/>
            </a:endParaRPr>
          </a:p>
          <a:p>
            <a:r>
              <a:rPr lang="en-IN" sz="3000" b="1" dirty="0">
                <a:latin typeface="Times New Roman" panose="02020603050405020304" pitchFamily="18" charset="0"/>
                <a:cs typeface="Times New Roman" panose="02020603050405020304" pitchFamily="18" charset="0"/>
              </a:rPr>
              <a:t>Backend-Db:- </a:t>
            </a:r>
            <a:r>
              <a:rPr lang="en-IN" sz="3000" dirty="0">
                <a:latin typeface="Times New Roman" panose="02020603050405020304" pitchFamily="18" charset="0"/>
                <a:cs typeface="Times New Roman" panose="02020603050405020304" pitchFamily="18" charset="0"/>
              </a:rPr>
              <a:t>Madhavi Bansod, Priyanka Jare</a:t>
            </a:r>
          </a:p>
          <a:p>
            <a:r>
              <a:rPr lang="en-IN" sz="3000" b="1" dirty="0">
                <a:latin typeface="Times New Roman" panose="02020603050405020304" pitchFamily="18" charset="0"/>
                <a:cs typeface="Times New Roman" panose="02020603050405020304" pitchFamily="18" charset="0"/>
              </a:rPr>
              <a:t>Frontend-UI :- </a:t>
            </a:r>
            <a:r>
              <a:rPr lang="en-IN" sz="3000" dirty="0">
                <a:latin typeface="Times New Roman" panose="02020603050405020304" pitchFamily="18" charset="0"/>
                <a:cs typeface="Times New Roman" panose="02020603050405020304" pitchFamily="18" charset="0"/>
              </a:rPr>
              <a:t>Komal Meshram</a:t>
            </a:r>
          </a:p>
          <a:p>
            <a:r>
              <a:rPr lang="en-IN" sz="3000" b="1" dirty="0">
                <a:latin typeface="Times New Roman" panose="02020603050405020304" pitchFamily="18" charset="0"/>
                <a:cs typeface="Times New Roman" panose="02020603050405020304" pitchFamily="18" charset="0"/>
              </a:rPr>
              <a:t>Frontend-</a:t>
            </a:r>
            <a:r>
              <a:rPr lang="en-IN" sz="3000" b="1" dirty="0" err="1">
                <a:latin typeface="Times New Roman" panose="02020603050405020304" pitchFamily="18" charset="0"/>
                <a:cs typeface="Times New Roman" panose="02020603050405020304" pitchFamily="18" charset="0"/>
              </a:rPr>
              <a:t>Js</a:t>
            </a:r>
            <a:r>
              <a:rPr lang="en-IN" sz="3000" b="1" dirty="0">
                <a:latin typeface="Times New Roman" panose="02020603050405020304" pitchFamily="18" charset="0"/>
                <a:cs typeface="Times New Roman" panose="02020603050405020304" pitchFamily="18" charset="0"/>
              </a:rPr>
              <a:t> :- </a:t>
            </a:r>
            <a:r>
              <a:rPr lang="en-IN" sz="3000" dirty="0">
                <a:latin typeface="Times New Roman" panose="02020603050405020304" pitchFamily="18" charset="0"/>
                <a:cs typeface="Times New Roman" panose="02020603050405020304" pitchFamily="18" charset="0"/>
              </a:rPr>
              <a:t>Samiksha Thakare</a:t>
            </a:r>
          </a:p>
        </p:txBody>
      </p:sp>
      <p:sp>
        <p:nvSpPr>
          <p:cNvPr id="20" name="TextBox 19">
            <a:extLst>
              <a:ext uri="{FF2B5EF4-FFF2-40B4-BE49-F238E27FC236}">
                <a16:creationId xmlns:a16="http://schemas.microsoft.com/office/drawing/2014/main" id="{9CA6B3BE-42E4-051F-36B1-5C6F3E3E8595}"/>
              </a:ext>
            </a:extLst>
          </p:cNvPr>
          <p:cNvSpPr txBox="1"/>
          <p:nvPr/>
        </p:nvSpPr>
        <p:spPr>
          <a:xfrm>
            <a:off x="3733800" y="3619500"/>
            <a:ext cx="11887200" cy="784830"/>
          </a:xfrm>
          <a:prstGeom prst="rect">
            <a:avLst/>
          </a:prstGeom>
          <a:noFill/>
        </p:spPr>
        <p:txBody>
          <a:bodyPr wrap="square">
            <a:spAutoFit/>
          </a:bodyPr>
          <a:lstStyle/>
          <a:p>
            <a:r>
              <a:rPr lang="en-IN" sz="4000" dirty="0">
                <a:latin typeface="Times New Roman" panose="02020603050405020304" pitchFamily="18" charset="0"/>
                <a:cs typeface="Times New Roman" panose="02020603050405020304" pitchFamily="18" charset="0"/>
              </a:rPr>
              <a:t> </a:t>
            </a:r>
            <a:r>
              <a:rPr lang="en-IN" sz="4500" b="1" dirty="0">
                <a:latin typeface="Times New Roman" panose="02020603050405020304" pitchFamily="18" charset="0"/>
                <a:cs typeface="Times New Roman" panose="02020603050405020304" pitchFamily="18" charset="0"/>
              </a:rPr>
              <a:t>Job Portal &amp; Applicant Tracking System (ATS)</a:t>
            </a:r>
          </a:p>
        </p:txBody>
      </p:sp>
      <p:sp>
        <p:nvSpPr>
          <p:cNvPr id="21" name="TextBox 20">
            <a:extLst>
              <a:ext uri="{FF2B5EF4-FFF2-40B4-BE49-F238E27FC236}">
                <a16:creationId xmlns:a16="http://schemas.microsoft.com/office/drawing/2014/main" id="{8C11665F-E4D6-C77B-90C1-838BCDE6684E}"/>
              </a:ext>
            </a:extLst>
          </p:cNvPr>
          <p:cNvSpPr txBox="1"/>
          <p:nvPr/>
        </p:nvSpPr>
        <p:spPr>
          <a:xfrm>
            <a:off x="7848600" y="3009900"/>
            <a:ext cx="2590800" cy="523220"/>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Project Seminar</a:t>
            </a:r>
            <a:endParaRPr lang="en-IN" sz="2800" dirty="0">
              <a:latin typeface="Times New Roman" panose="02020603050405020304" pitchFamily="18" charset="0"/>
              <a:cs typeface="Times New Roman" panose="02020603050405020304" pitchFamily="18" charset="0"/>
            </a:endParaRPr>
          </a:p>
        </p:txBody>
      </p:sp>
      <p:sp>
        <p:nvSpPr>
          <p:cNvPr id="23" name="TextBox 22">
            <a:extLst>
              <a:ext uri="{FF2B5EF4-FFF2-40B4-BE49-F238E27FC236}">
                <a16:creationId xmlns:a16="http://schemas.microsoft.com/office/drawing/2014/main" id="{0809A57A-FDD7-63F5-B581-8A2ADEAAC206}"/>
              </a:ext>
            </a:extLst>
          </p:cNvPr>
          <p:cNvSpPr txBox="1"/>
          <p:nvPr/>
        </p:nvSpPr>
        <p:spPr>
          <a:xfrm>
            <a:off x="6553200" y="8370072"/>
            <a:ext cx="4953000" cy="1292662"/>
          </a:xfrm>
          <a:prstGeom prst="rect">
            <a:avLst/>
          </a:prstGeom>
          <a:noFill/>
        </p:spPr>
        <p:txBody>
          <a:bodyPr wrap="square">
            <a:spAutoFit/>
          </a:bodyPr>
          <a:lstStyle/>
          <a:p>
            <a:pPr algn="ctr"/>
            <a:r>
              <a:rPr lang="en-IN" sz="3000" b="1" dirty="0">
                <a:latin typeface="Times New Roman" panose="02020603050405020304" pitchFamily="18" charset="0"/>
                <a:cs typeface="Times New Roman" panose="02020603050405020304" pitchFamily="18" charset="0"/>
              </a:rPr>
              <a:t>Guided By:</a:t>
            </a:r>
          </a:p>
          <a:p>
            <a:pPr algn="ctr"/>
            <a:r>
              <a:rPr lang="en-IN" sz="3000" dirty="0">
                <a:latin typeface="Times New Roman" panose="02020603050405020304" pitchFamily="18" charset="0"/>
                <a:cs typeface="Times New Roman" panose="02020603050405020304" pitchFamily="18" charset="0"/>
              </a:rPr>
              <a:t> Mr. </a:t>
            </a:r>
            <a:r>
              <a:rPr lang="en-IN" sz="3000" dirty="0" err="1">
                <a:latin typeface="Times New Roman" panose="02020603050405020304" pitchFamily="18" charset="0"/>
                <a:cs typeface="Times New Roman" panose="02020603050405020304" pitchFamily="18" charset="0"/>
              </a:rPr>
              <a:t>Ratnadip</a:t>
            </a:r>
            <a:r>
              <a:rPr lang="en-IN" sz="3000" dirty="0">
                <a:latin typeface="Times New Roman" panose="02020603050405020304" pitchFamily="18" charset="0"/>
                <a:cs typeface="Times New Roman" panose="02020603050405020304" pitchFamily="18" charset="0"/>
              </a:rPr>
              <a:t> </a:t>
            </a:r>
            <a:r>
              <a:rPr lang="en-IN" sz="3000" dirty="0" err="1">
                <a:latin typeface="Times New Roman" panose="02020603050405020304" pitchFamily="18" charset="0"/>
                <a:cs typeface="Times New Roman" panose="02020603050405020304" pitchFamily="18" charset="0"/>
              </a:rPr>
              <a:t>Tembhurkar</a:t>
            </a:r>
            <a:r>
              <a:rPr lang="en-IN" sz="3000" dirty="0">
                <a:latin typeface="Times New Roman" panose="02020603050405020304" pitchFamily="18" charset="0"/>
                <a:cs typeface="Times New Roman" panose="02020603050405020304" pitchFamily="18" charset="0"/>
              </a:rPr>
              <a:t> Sir</a:t>
            </a:r>
            <a:br>
              <a:rPr lang="en-IN" dirty="0"/>
            </a:br>
            <a:r>
              <a:rPr lang="en-IN" dirty="0"/>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a:extLst>
            <a:ext uri="{FF2B5EF4-FFF2-40B4-BE49-F238E27FC236}">
              <a16:creationId xmlns:a16="http://schemas.microsoft.com/office/drawing/2014/main" id="{5A8BF709-8AD2-5716-A985-8A01F049AC9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4525C7F-2C9A-A420-70FD-9C8426B13D2C}"/>
              </a:ext>
            </a:extLst>
          </p:cNvPr>
          <p:cNvSpPr/>
          <p:nvPr/>
        </p:nvSpPr>
        <p:spPr>
          <a:xfrm rot="8100000">
            <a:off x="14011329" y="1225032"/>
            <a:ext cx="5804607" cy="5804607"/>
          </a:xfrm>
          <a:custGeom>
            <a:avLst/>
            <a:gdLst/>
            <a:ahLst/>
            <a:cxnLst/>
            <a:rect l="l" t="t" r="r" b="b"/>
            <a:pathLst>
              <a:path w="5804607" h="5804607">
                <a:moveTo>
                  <a:pt x="0" y="0"/>
                </a:moveTo>
                <a:lnTo>
                  <a:pt x="5804607" y="0"/>
                </a:lnTo>
                <a:lnTo>
                  <a:pt x="5804607" y="5804608"/>
                </a:lnTo>
                <a:lnTo>
                  <a:pt x="0" y="5804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a:extLst>
              <a:ext uri="{FF2B5EF4-FFF2-40B4-BE49-F238E27FC236}">
                <a16:creationId xmlns:a16="http://schemas.microsoft.com/office/drawing/2014/main" id="{06B53B72-06CF-9D13-884B-863C27363A8A}"/>
              </a:ext>
            </a:extLst>
          </p:cNvPr>
          <p:cNvSpPr/>
          <p:nvPr/>
        </p:nvSpPr>
        <p:spPr>
          <a:xfrm>
            <a:off x="11900919" y="4459535"/>
            <a:ext cx="5804607" cy="5804607"/>
          </a:xfrm>
          <a:custGeom>
            <a:avLst/>
            <a:gdLst/>
            <a:ahLst/>
            <a:cxnLst/>
            <a:rect l="l" t="t" r="r" b="b"/>
            <a:pathLst>
              <a:path w="5804607" h="5804607">
                <a:moveTo>
                  <a:pt x="0" y="0"/>
                </a:moveTo>
                <a:lnTo>
                  <a:pt x="5804607" y="0"/>
                </a:lnTo>
                <a:lnTo>
                  <a:pt x="5804607" y="5804608"/>
                </a:lnTo>
                <a:lnTo>
                  <a:pt x="0" y="58046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a:extLst>
              <a:ext uri="{FF2B5EF4-FFF2-40B4-BE49-F238E27FC236}">
                <a16:creationId xmlns:a16="http://schemas.microsoft.com/office/drawing/2014/main" id="{B2F8949A-F2F8-2947-FA54-68E5C8CAC744}"/>
              </a:ext>
            </a:extLst>
          </p:cNvPr>
          <p:cNvSpPr/>
          <p:nvPr/>
        </p:nvSpPr>
        <p:spPr>
          <a:xfrm>
            <a:off x="-5143526" y="7597308"/>
            <a:ext cx="8233265" cy="8233265"/>
          </a:xfrm>
          <a:custGeom>
            <a:avLst/>
            <a:gdLst/>
            <a:ahLst/>
            <a:cxnLst/>
            <a:rect l="l" t="t" r="r" b="b"/>
            <a:pathLst>
              <a:path w="8233265" h="8233265">
                <a:moveTo>
                  <a:pt x="0" y="0"/>
                </a:moveTo>
                <a:lnTo>
                  <a:pt x="8233265" y="0"/>
                </a:lnTo>
                <a:lnTo>
                  <a:pt x="8233265" y="8233265"/>
                </a:lnTo>
                <a:lnTo>
                  <a:pt x="0" y="8233265"/>
                </a:lnTo>
                <a:lnTo>
                  <a:pt x="0" y="0"/>
                </a:lnTo>
                <a:close/>
              </a:path>
            </a:pathLst>
          </a:custGeom>
          <a:blipFill>
            <a:blip r:embed="rId6">
              <a:alphaModFix amt="96000"/>
              <a:extLst>
                <a:ext uri="{96DAC541-7B7A-43D3-8B79-37D633B846F1}">
                  <asvg:svgBlip xmlns:asvg="http://schemas.microsoft.com/office/drawing/2016/SVG/main" r:embed="rId7"/>
                </a:ext>
              </a:extLst>
            </a:blip>
            <a:stretch>
              <a:fillRect/>
            </a:stretch>
          </a:blipFill>
        </p:spPr>
      </p:sp>
      <p:sp>
        <p:nvSpPr>
          <p:cNvPr id="5" name="Freeform 5">
            <a:extLst>
              <a:ext uri="{FF2B5EF4-FFF2-40B4-BE49-F238E27FC236}">
                <a16:creationId xmlns:a16="http://schemas.microsoft.com/office/drawing/2014/main" id="{9535CF16-6E19-1FFF-1564-4CB7CDDFB782}"/>
              </a:ext>
            </a:extLst>
          </p:cNvPr>
          <p:cNvSpPr/>
          <p:nvPr/>
        </p:nvSpPr>
        <p:spPr>
          <a:xfrm>
            <a:off x="15980388" y="1346208"/>
            <a:ext cx="1740378" cy="1769331"/>
          </a:xfrm>
          <a:custGeom>
            <a:avLst/>
            <a:gdLst/>
            <a:ahLst/>
            <a:cxnLst/>
            <a:rect l="l" t="t" r="r" b="b"/>
            <a:pathLst>
              <a:path w="1740378" h="1769331">
                <a:moveTo>
                  <a:pt x="0" y="0"/>
                </a:moveTo>
                <a:lnTo>
                  <a:pt x="1740378" y="0"/>
                </a:lnTo>
                <a:lnTo>
                  <a:pt x="1740378" y="1769331"/>
                </a:lnTo>
                <a:lnTo>
                  <a:pt x="0" y="176933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a:extLst>
              <a:ext uri="{FF2B5EF4-FFF2-40B4-BE49-F238E27FC236}">
                <a16:creationId xmlns:a16="http://schemas.microsoft.com/office/drawing/2014/main" id="{B28EC602-6D42-851E-8828-33391D067C29}"/>
              </a:ext>
            </a:extLst>
          </p:cNvPr>
          <p:cNvSpPr/>
          <p:nvPr/>
        </p:nvSpPr>
        <p:spPr>
          <a:xfrm>
            <a:off x="13448701" y="6288865"/>
            <a:ext cx="1499906" cy="1746616"/>
          </a:xfrm>
          <a:custGeom>
            <a:avLst/>
            <a:gdLst/>
            <a:ahLst/>
            <a:cxnLst/>
            <a:rect l="l" t="t" r="r" b="b"/>
            <a:pathLst>
              <a:path w="1499906" h="1746616">
                <a:moveTo>
                  <a:pt x="0" y="0"/>
                </a:moveTo>
                <a:lnTo>
                  <a:pt x="1499906" y="0"/>
                </a:lnTo>
                <a:lnTo>
                  <a:pt x="1499906" y="1746616"/>
                </a:lnTo>
                <a:lnTo>
                  <a:pt x="0" y="174661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7" name="TextBox 7">
            <a:extLst>
              <a:ext uri="{FF2B5EF4-FFF2-40B4-BE49-F238E27FC236}">
                <a16:creationId xmlns:a16="http://schemas.microsoft.com/office/drawing/2014/main" id="{4739A679-F355-07E4-EFB3-9260C5D10BE2}"/>
              </a:ext>
            </a:extLst>
          </p:cNvPr>
          <p:cNvSpPr txBox="1"/>
          <p:nvPr/>
        </p:nvSpPr>
        <p:spPr>
          <a:xfrm>
            <a:off x="799501" y="2332011"/>
            <a:ext cx="12649200" cy="2911053"/>
          </a:xfrm>
          <a:prstGeom prst="rect">
            <a:avLst/>
          </a:prstGeom>
        </p:spPr>
        <p:txBody>
          <a:bodyPr wrap="square" lIns="0" tIns="0" rIns="0" bIns="0" rtlCol="0" anchor="t">
            <a:spAutoFit/>
          </a:bodyPr>
          <a:lstStyle/>
          <a:p>
            <a:pPr>
              <a:lnSpc>
                <a:spcPts val="11562"/>
              </a:lnSpc>
            </a:pPr>
            <a:r>
              <a:rPr lang="en-US" sz="8000" dirty="0">
                <a:solidFill>
                  <a:srgbClr val="000000"/>
                </a:solidFill>
                <a:latin typeface="League Spartan"/>
              </a:rPr>
              <a:t>Job Portal &amp; Applicant Tracking System (ATS)</a:t>
            </a:r>
            <a:endParaRPr lang="en-US" sz="8000" dirty="0">
              <a:solidFill>
                <a:srgbClr val="000000"/>
              </a:solidFill>
              <a:latin typeface="League Spartan"/>
              <a:sym typeface="League Spartan"/>
            </a:endParaRPr>
          </a:p>
        </p:txBody>
      </p:sp>
      <p:sp>
        <p:nvSpPr>
          <p:cNvPr id="8" name="AutoShape 8">
            <a:extLst>
              <a:ext uri="{FF2B5EF4-FFF2-40B4-BE49-F238E27FC236}">
                <a16:creationId xmlns:a16="http://schemas.microsoft.com/office/drawing/2014/main" id="{C8F82857-D313-5524-1DF8-3A6926111F08}"/>
              </a:ext>
            </a:extLst>
          </p:cNvPr>
          <p:cNvSpPr/>
          <p:nvPr/>
        </p:nvSpPr>
        <p:spPr>
          <a:xfrm>
            <a:off x="1326660" y="849619"/>
            <a:ext cx="2494042" cy="0"/>
          </a:xfrm>
          <a:prstGeom prst="line">
            <a:avLst/>
          </a:prstGeom>
          <a:ln w="647700" cap="rnd">
            <a:solidFill>
              <a:srgbClr val="000000"/>
            </a:solidFill>
            <a:prstDash val="solid"/>
            <a:headEnd type="none" w="sm" len="sm"/>
            <a:tailEnd type="none" w="sm" len="sm"/>
          </a:ln>
        </p:spPr>
      </p:sp>
      <p:sp>
        <p:nvSpPr>
          <p:cNvPr id="9" name="TextBox 9">
            <a:extLst>
              <a:ext uri="{FF2B5EF4-FFF2-40B4-BE49-F238E27FC236}">
                <a16:creationId xmlns:a16="http://schemas.microsoft.com/office/drawing/2014/main" id="{1964BD1F-72E4-AE85-1D8D-20B0286CFF20}"/>
              </a:ext>
            </a:extLst>
          </p:cNvPr>
          <p:cNvSpPr txBox="1"/>
          <p:nvPr/>
        </p:nvSpPr>
        <p:spPr>
          <a:xfrm>
            <a:off x="1524000" y="647700"/>
            <a:ext cx="2099228" cy="469900"/>
          </a:xfrm>
          <a:prstGeom prst="rect">
            <a:avLst/>
          </a:prstGeom>
        </p:spPr>
        <p:txBody>
          <a:bodyPr lIns="0" tIns="0" rIns="0" bIns="0" rtlCol="0" anchor="t">
            <a:spAutoFit/>
          </a:bodyPr>
          <a:lstStyle/>
          <a:p>
            <a:pPr algn="ctr">
              <a:lnSpc>
                <a:spcPts val="3499"/>
              </a:lnSpc>
            </a:pPr>
            <a:r>
              <a:rPr lang="en-US" sz="2499" dirty="0">
                <a:solidFill>
                  <a:srgbClr val="FFFFFF"/>
                </a:solidFill>
                <a:latin typeface="Futura"/>
                <a:ea typeface="Futura"/>
                <a:cs typeface="Futura"/>
                <a:sym typeface="Futura"/>
              </a:rPr>
              <a:t>Let's Start</a:t>
            </a:r>
          </a:p>
        </p:txBody>
      </p:sp>
      <p:grpSp>
        <p:nvGrpSpPr>
          <p:cNvPr id="10" name="Group 6">
            <a:extLst>
              <a:ext uri="{FF2B5EF4-FFF2-40B4-BE49-F238E27FC236}">
                <a16:creationId xmlns:a16="http://schemas.microsoft.com/office/drawing/2014/main" id="{16B93FC8-D572-A879-431B-97CDC5434AAF}"/>
              </a:ext>
            </a:extLst>
          </p:cNvPr>
          <p:cNvGrpSpPr/>
          <p:nvPr/>
        </p:nvGrpSpPr>
        <p:grpSpPr>
          <a:xfrm>
            <a:off x="838200" y="8191500"/>
            <a:ext cx="1057504" cy="1057504"/>
            <a:chOff x="0" y="0"/>
            <a:chExt cx="6350000" cy="6350000"/>
          </a:xfrm>
        </p:grpSpPr>
        <p:sp>
          <p:nvSpPr>
            <p:cNvPr id="11" name="Freeform 7">
              <a:extLst>
                <a:ext uri="{FF2B5EF4-FFF2-40B4-BE49-F238E27FC236}">
                  <a16:creationId xmlns:a16="http://schemas.microsoft.com/office/drawing/2014/main" id="{730A3168-91C7-5AE0-FB3D-F0394A7094A6}"/>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sp>
      </p:grpSp>
    </p:spTree>
    <p:extLst>
      <p:ext uri="{BB962C8B-B14F-4D97-AF65-F5344CB8AC3E}">
        <p14:creationId xmlns:p14="http://schemas.microsoft.com/office/powerpoint/2010/main" val="8824949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sp>
        <p:nvSpPr>
          <p:cNvPr id="2" name="Freeform 2"/>
          <p:cNvSpPr/>
          <p:nvPr/>
        </p:nvSpPr>
        <p:spPr>
          <a:xfrm rot="5400000">
            <a:off x="-2609850" y="1714499"/>
            <a:ext cx="12077699" cy="6858000"/>
          </a:xfrm>
          <a:custGeom>
            <a:avLst/>
            <a:gdLst/>
            <a:ahLst/>
            <a:cxnLst/>
            <a:rect l="l" t="t" r="r" b="b"/>
            <a:pathLst>
              <a:path w="16073566" h="8453182">
                <a:moveTo>
                  <a:pt x="0" y="0"/>
                </a:moveTo>
                <a:lnTo>
                  <a:pt x="16073566" y="0"/>
                </a:lnTo>
                <a:lnTo>
                  <a:pt x="16073566" y="8453182"/>
                </a:lnTo>
                <a:lnTo>
                  <a:pt x="0" y="8453182"/>
                </a:lnTo>
                <a:lnTo>
                  <a:pt x="0" y="0"/>
                </a:lnTo>
                <a:close/>
              </a:path>
            </a:pathLst>
          </a:custGeom>
          <a:blipFill>
            <a:blip r:embed="rId2">
              <a:alphaModFix amt="89000"/>
              <a:extLst>
                <a:ext uri="{96DAC541-7B7A-43D3-8B79-37D633B846F1}">
                  <asvg:svgBlip xmlns:asvg="http://schemas.microsoft.com/office/drawing/2016/SVG/main" r:embed="rId3"/>
                </a:ext>
              </a:extLst>
            </a:blip>
            <a:stretch>
              <a:fillRect t="-90148"/>
            </a:stretch>
          </a:blipFill>
        </p:spPr>
      </p:sp>
      <p:sp>
        <p:nvSpPr>
          <p:cNvPr id="3" name="TextBox 3"/>
          <p:cNvSpPr txBox="1"/>
          <p:nvPr/>
        </p:nvSpPr>
        <p:spPr>
          <a:xfrm>
            <a:off x="1143000" y="4610100"/>
            <a:ext cx="5340685" cy="1295226"/>
          </a:xfrm>
          <a:prstGeom prst="rect">
            <a:avLst/>
          </a:prstGeom>
        </p:spPr>
        <p:txBody>
          <a:bodyPr lIns="0" tIns="0" rIns="0" bIns="0" rtlCol="0" anchor="t">
            <a:spAutoFit/>
          </a:bodyPr>
          <a:lstStyle/>
          <a:p>
            <a:pPr algn="l">
              <a:lnSpc>
                <a:spcPts val="10085"/>
              </a:lnSpc>
            </a:pPr>
            <a:r>
              <a:rPr lang="en-US" sz="8199" dirty="0">
                <a:solidFill>
                  <a:srgbClr val="000000"/>
                </a:solidFill>
                <a:latin typeface="League Spartan"/>
                <a:ea typeface="League Spartan"/>
                <a:cs typeface="League Spartan"/>
                <a:sym typeface="League Spartan"/>
              </a:rPr>
              <a:t>Content :</a:t>
            </a:r>
          </a:p>
        </p:txBody>
      </p:sp>
      <p:sp>
        <p:nvSpPr>
          <p:cNvPr id="5" name="TextBox 5"/>
          <p:cNvSpPr txBox="1"/>
          <p:nvPr/>
        </p:nvSpPr>
        <p:spPr>
          <a:xfrm>
            <a:off x="10176119" y="1992716"/>
            <a:ext cx="6968881" cy="5975995"/>
          </a:xfrm>
          <a:prstGeom prst="rect">
            <a:avLst/>
          </a:prstGeom>
        </p:spPr>
        <p:txBody>
          <a:bodyPr lIns="0" tIns="0" rIns="0" bIns="0" rtlCol="0" anchor="t">
            <a:spAutoFit/>
          </a:bodyPr>
          <a:lstStyle/>
          <a:p>
            <a:pPr marL="742950" indent="-742950" algn="l">
              <a:lnSpc>
                <a:spcPts val="5040"/>
              </a:lnSpc>
              <a:buFont typeface="+mj-lt"/>
              <a:buAutoNum type="arabicPeriod"/>
            </a:pPr>
            <a:r>
              <a:rPr lang="en-US" sz="3600" b="1" dirty="0">
                <a:solidFill>
                  <a:srgbClr val="000000"/>
                </a:solidFill>
                <a:latin typeface="Times New Roman" panose="02020603050405020304" pitchFamily="18" charset="0"/>
                <a:ea typeface="Futura"/>
                <a:cs typeface="Times New Roman" panose="02020603050405020304" pitchFamily="18" charset="0"/>
                <a:sym typeface="Futura"/>
              </a:rPr>
              <a:t>Introduction</a:t>
            </a:r>
          </a:p>
          <a:p>
            <a:pPr marL="742950" indent="-742950" algn="l">
              <a:lnSpc>
                <a:spcPts val="5040"/>
              </a:lnSpc>
              <a:buFont typeface="+mj-lt"/>
              <a:buAutoNum type="arabicPeriod"/>
            </a:pPr>
            <a:r>
              <a:rPr lang="en-US" sz="3600" b="1" dirty="0">
                <a:solidFill>
                  <a:srgbClr val="000000"/>
                </a:solidFill>
                <a:latin typeface="Times New Roman" panose="02020603050405020304" pitchFamily="18" charset="0"/>
                <a:ea typeface="Futura"/>
                <a:cs typeface="Times New Roman" panose="02020603050405020304" pitchFamily="18" charset="0"/>
                <a:sym typeface="Futura"/>
              </a:rPr>
              <a:t>Purpose of System</a:t>
            </a:r>
          </a:p>
          <a:p>
            <a:pPr marL="742950" indent="-742950" algn="l">
              <a:lnSpc>
                <a:spcPts val="5040"/>
              </a:lnSpc>
              <a:buFont typeface="+mj-lt"/>
              <a:buAutoNum type="arabicPeriod"/>
            </a:pPr>
            <a:r>
              <a:rPr lang="en-US" sz="3600" b="1" dirty="0">
                <a:solidFill>
                  <a:srgbClr val="000000"/>
                </a:solidFill>
                <a:latin typeface="Times New Roman" panose="02020603050405020304" pitchFamily="18" charset="0"/>
                <a:ea typeface="Futura"/>
                <a:cs typeface="Times New Roman" panose="02020603050405020304" pitchFamily="18" charset="0"/>
                <a:sym typeface="Futura"/>
              </a:rPr>
              <a:t>Product Scope</a:t>
            </a:r>
          </a:p>
          <a:p>
            <a:pPr marL="742950" indent="-742950" algn="l">
              <a:lnSpc>
                <a:spcPts val="5040"/>
              </a:lnSpc>
              <a:buFont typeface="+mj-lt"/>
              <a:buAutoNum type="arabicPeriod"/>
            </a:pPr>
            <a:r>
              <a:rPr lang="en-US" sz="3600" b="1" dirty="0">
                <a:solidFill>
                  <a:srgbClr val="000000"/>
                </a:solidFill>
                <a:latin typeface="Times New Roman" panose="02020603050405020304" pitchFamily="18" charset="0"/>
                <a:ea typeface="Futura"/>
                <a:cs typeface="Times New Roman" panose="02020603050405020304" pitchFamily="18" charset="0"/>
                <a:sym typeface="Futura"/>
              </a:rPr>
              <a:t>System Overview</a:t>
            </a:r>
          </a:p>
          <a:p>
            <a:pPr marL="742950" indent="-742950" algn="l">
              <a:lnSpc>
                <a:spcPts val="5040"/>
              </a:lnSpc>
              <a:buFont typeface="+mj-lt"/>
              <a:buAutoNum type="arabicPeriod"/>
            </a:pPr>
            <a:r>
              <a:rPr lang="en-US" sz="3600" b="1" dirty="0">
                <a:solidFill>
                  <a:srgbClr val="000000"/>
                </a:solidFill>
                <a:latin typeface="Times New Roman" panose="02020603050405020304" pitchFamily="18" charset="0"/>
                <a:ea typeface="Futura"/>
                <a:cs typeface="Times New Roman" panose="02020603050405020304" pitchFamily="18" charset="0"/>
                <a:sym typeface="Futura"/>
              </a:rPr>
              <a:t>Technology Used</a:t>
            </a:r>
          </a:p>
          <a:p>
            <a:pPr marL="742950" indent="-742950">
              <a:buFont typeface="+mj-lt"/>
              <a:buAutoNum type="arabicPeriod"/>
            </a:pPr>
            <a:r>
              <a:rPr lang="en-IN" sz="3600" b="1" dirty="0">
                <a:latin typeface="Times New Roman" panose="02020603050405020304" pitchFamily="18" charset="0"/>
                <a:cs typeface="Times New Roman" panose="02020603050405020304" pitchFamily="18" charset="0"/>
              </a:rPr>
              <a:t>System Architecture</a:t>
            </a:r>
          </a:p>
          <a:p>
            <a:pPr marL="742950" indent="-742950">
              <a:buFont typeface="+mj-lt"/>
              <a:buAutoNum type="arabicPeriod"/>
            </a:pPr>
            <a:r>
              <a:rPr lang="en-US" sz="3600" b="1" dirty="0">
                <a:latin typeface="Times New Roman" panose="02020603050405020304" pitchFamily="18" charset="0"/>
                <a:cs typeface="Times New Roman" panose="02020603050405020304" pitchFamily="18" charset="0"/>
              </a:rPr>
              <a:t>Architecture Workflow</a:t>
            </a:r>
          </a:p>
          <a:p>
            <a:pPr marL="742950" indent="-742950">
              <a:buFont typeface="+mj-lt"/>
              <a:buAutoNum type="arabicPeriod"/>
            </a:pPr>
            <a:r>
              <a:rPr lang="en-US" sz="3600" b="1" dirty="0">
                <a:latin typeface="Times New Roman" panose="02020603050405020304" pitchFamily="18" charset="0"/>
                <a:cs typeface="Times New Roman" panose="02020603050405020304" pitchFamily="18" charset="0"/>
              </a:rPr>
              <a:t>Database Design</a:t>
            </a:r>
          </a:p>
          <a:p>
            <a:pPr marL="742950" indent="-742950">
              <a:buFont typeface="+mj-lt"/>
              <a:buAutoNum type="arabicPeriod"/>
            </a:pPr>
            <a:r>
              <a:rPr lang="en-US" sz="3600" b="1" dirty="0">
                <a:latin typeface="Times New Roman" panose="02020603050405020304" pitchFamily="18" charset="0"/>
                <a:cs typeface="Times New Roman" panose="02020603050405020304" pitchFamily="18" charset="0"/>
              </a:rPr>
              <a:t>Future Enhancements</a:t>
            </a:r>
          </a:p>
          <a:p>
            <a:pPr marL="742950" indent="-742950">
              <a:buFont typeface="+mj-lt"/>
              <a:buAutoNum type="arabicPeriod"/>
            </a:pPr>
            <a:r>
              <a:rPr lang="en-US" sz="3600" b="1" dirty="0">
                <a:solidFill>
                  <a:srgbClr val="000000"/>
                </a:solidFill>
                <a:latin typeface="Times New Roman" panose="02020603050405020304" pitchFamily="18" charset="0"/>
                <a:ea typeface="Futura"/>
                <a:cs typeface="Times New Roman" panose="02020603050405020304" pitchFamily="18" charset="0"/>
                <a:sym typeface="Futura"/>
              </a:rPr>
              <a:t>conclusion</a:t>
            </a:r>
          </a:p>
        </p:txBody>
      </p:sp>
      <p:sp>
        <p:nvSpPr>
          <p:cNvPr id="6" name="AutoShape 6"/>
          <p:cNvSpPr/>
          <p:nvPr/>
        </p:nvSpPr>
        <p:spPr>
          <a:xfrm>
            <a:off x="9620641" y="9105900"/>
            <a:ext cx="6492240" cy="0"/>
          </a:xfrm>
          <a:prstGeom prst="line">
            <a:avLst/>
          </a:prstGeom>
          <a:ln w="28575" cap="rnd">
            <a:solidFill>
              <a:srgbClr val="000000"/>
            </a:solidFill>
            <a:prstDash val="solid"/>
            <a:headEnd type="none" w="sm" len="sm"/>
            <a:tailEnd type="none" w="sm" len="sm"/>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sp>
        <p:nvSpPr>
          <p:cNvPr id="6" name="TextBox 6"/>
          <p:cNvSpPr txBox="1"/>
          <p:nvPr/>
        </p:nvSpPr>
        <p:spPr>
          <a:xfrm>
            <a:off x="3168321" y="952500"/>
            <a:ext cx="10736412" cy="1090042"/>
          </a:xfrm>
          <a:prstGeom prst="rect">
            <a:avLst/>
          </a:prstGeom>
        </p:spPr>
        <p:txBody>
          <a:bodyPr lIns="0" tIns="0" rIns="0" bIns="0" rtlCol="0" anchor="t">
            <a:spAutoFit/>
          </a:bodyPr>
          <a:lstStyle/>
          <a:p>
            <a:pPr algn="ctr">
              <a:lnSpc>
                <a:spcPts val="8489"/>
              </a:lnSpc>
            </a:pPr>
            <a:r>
              <a:rPr lang="en-US" sz="6901" dirty="0">
                <a:solidFill>
                  <a:srgbClr val="000000"/>
                </a:solidFill>
                <a:latin typeface="League Spartan"/>
                <a:ea typeface="League Spartan"/>
                <a:cs typeface="League Spartan"/>
                <a:sym typeface="League Spartan"/>
              </a:rPr>
              <a:t>Introduction</a:t>
            </a:r>
          </a:p>
        </p:txBody>
      </p:sp>
      <p:sp>
        <p:nvSpPr>
          <p:cNvPr id="7" name="Freeform 7"/>
          <p:cNvSpPr/>
          <p:nvPr/>
        </p:nvSpPr>
        <p:spPr>
          <a:xfrm>
            <a:off x="15240000" y="-336107"/>
            <a:ext cx="10959214" cy="10959214"/>
          </a:xfrm>
          <a:custGeom>
            <a:avLst/>
            <a:gdLst/>
            <a:ahLst/>
            <a:cxnLst/>
            <a:rect l="l" t="t" r="r" b="b"/>
            <a:pathLst>
              <a:path w="10959214" h="10959214">
                <a:moveTo>
                  <a:pt x="0" y="0"/>
                </a:moveTo>
                <a:lnTo>
                  <a:pt x="10959213" y="0"/>
                </a:lnTo>
                <a:lnTo>
                  <a:pt x="10959213" y="10959214"/>
                </a:lnTo>
                <a:lnTo>
                  <a:pt x="0" y="10959214"/>
                </a:lnTo>
                <a:lnTo>
                  <a:pt x="0" y="0"/>
                </a:lnTo>
                <a:close/>
              </a:path>
            </a:pathLst>
          </a:custGeom>
          <a:blipFill>
            <a:blip r:embed="rId2">
              <a:alphaModFix amt="90000"/>
              <a:extLst>
                <a:ext uri="{96DAC541-7B7A-43D3-8B79-37D633B846F1}">
                  <asvg:svgBlip xmlns:asvg="http://schemas.microsoft.com/office/drawing/2016/SVG/main" r:embed="rId3"/>
                </a:ext>
              </a:extLst>
            </a:blip>
            <a:stretch>
              <a:fillRect/>
            </a:stretch>
          </a:blipFill>
        </p:spPr>
      </p:sp>
      <p:sp>
        <p:nvSpPr>
          <p:cNvPr id="8" name="Freeform 8"/>
          <p:cNvSpPr/>
          <p:nvPr/>
        </p:nvSpPr>
        <p:spPr>
          <a:xfrm>
            <a:off x="-4798657" y="-358967"/>
            <a:ext cx="6783048" cy="6783048"/>
          </a:xfrm>
          <a:custGeom>
            <a:avLst/>
            <a:gdLst/>
            <a:ahLst/>
            <a:cxnLst/>
            <a:rect l="l" t="t" r="r" b="b"/>
            <a:pathLst>
              <a:path w="6783048" h="6783048">
                <a:moveTo>
                  <a:pt x="0" y="0"/>
                </a:moveTo>
                <a:lnTo>
                  <a:pt x="6783048" y="0"/>
                </a:lnTo>
                <a:lnTo>
                  <a:pt x="6783048" y="6783048"/>
                </a:lnTo>
                <a:lnTo>
                  <a:pt x="0" y="6783048"/>
                </a:lnTo>
                <a:lnTo>
                  <a:pt x="0" y="0"/>
                </a:lnTo>
                <a:close/>
              </a:path>
            </a:pathLst>
          </a:custGeom>
          <a:blipFill>
            <a:blip r:embed="rId4">
              <a:alphaModFix amt="90000"/>
              <a:extLst>
                <a:ext uri="{96DAC541-7B7A-43D3-8B79-37D633B846F1}">
                  <asvg:svgBlip xmlns:asvg="http://schemas.microsoft.com/office/drawing/2016/SVG/main" r:embed="rId5"/>
                </a:ext>
              </a:extLst>
            </a:blip>
            <a:stretch>
              <a:fillRect/>
            </a:stretch>
          </a:blipFill>
        </p:spPr>
      </p:sp>
      <p:sp>
        <p:nvSpPr>
          <p:cNvPr id="9" name="Freeform 9"/>
          <p:cNvSpPr/>
          <p:nvPr/>
        </p:nvSpPr>
        <p:spPr>
          <a:xfrm rot="-5400000">
            <a:off x="15392964" y="1171304"/>
            <a:ext cx="2387900" cy="1202633"/>
          </a:xfrm>
          <a:custGeom>
            <a:avLst/>
            <a:gdLst/>
            <a:ahLst/>
            <a:cxnLst/>
            <a:rect l="l" t="t" r="r" b="b"/>
            <a:pathLst>
              <a:path w="2387900" h="1202633">
                <a:moveTo>
                  <a:pt x="0" y="0"/>
                </a:moveTo>
                <a:lnTo>
                  <a:pt x="2387901" y="0"/>
                </a:lnTo>
                <a:lnTo>
                  <a:pt x="2387901" y="1202634"/>
                </a:lnTo>
                <a:lnTo>
                  <a:pt x="0" y="120263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6" name="TextBox 15">
            <a:extLst>
              <a:ext uri="{FF2B5EF4-FFF2-40B4-BE49-F238E27FC236}">
                <a16:creationId xmlns:a16="http://schemas.microsoft.com/office/drawing/2014/main" id="{579CDE28-E84E-A4EA-1AE3-2C89E5F6D5AF}"/>
              </a:ext>
            </a:extLst>
          </p:cNvPr>
          <p:cNvSpPr txBox="1"/>
          <p:nvPr/>
        </p:nvSpPr>
        <p:spPr>
          <a:xfrm>
            <a:off x="2652024" y="3771900"/>
            <a:ext cx="12496800" cy="3323987"/>
          </a:xfrm>
          <a:prstGeom prst="rect">
            <a:avLst/>
          </a:prstGeom>
          <a:noFill/>
        </p:spPr>
        <p:txBody>
          <a:bodyPr wrap="square">
            <a:spAutoFit/>
          </a:bodyPr>
          <a:lstStyle/>
          <a:p>
            <a:pPr algn="just"/>
            <a:r>
              <a:rPr lang="en-US" sz="3500" dirty="0">
                <a:latin typeface="Times New Roman" panose="02020603050405020304" pitchFamily="18" charset="0"/>
                <a:cs typeface="Times New Roman" panose="02020603050405020304" pitchFamily="18" charset="0"/>
              </a:rPr>
              <a:t>The Job Portal &amp; Applicant Tracking System (ATS) is an online system that helps companies and job seekers connect easily. Companies can post job openings, and candidates can search and apply for jobs from anywhere. Recruiters can review applications and update the status of candidates. This system makes the hiring process faster, organized, and more efficient.</a:t>
            </a:r>
            <a:endParaRPr lang="en-IN" sz="35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a:extLst>
            <a:ext uri="{FF2B5EF4-FFF2-40B4-BE49-F238E27FC236}">
              <a16:creationId xmlns:a16="http://schemas.microsoft.com/office/drawing/2014/main" id="{F82E65CF-6310-7A81-AA31-48ADDF864601}"/>
            </a:ext>
          </a:extLst>
        </p:cNvPr>
        <p:cNvGrpSpPr/>
        <p:nvPr/>
      </p:nvGrpSpPr>
      <p:grpSpPr>
        <a:xfrm>
          <a:off x="0" y="0"/>
          <a:ext cx="0" cy="0"/>
          <a:chOff x="0" y="0"/>
          <a:chExt cx="0" cy="0"/>
        </a:xfrm>
      </p:grpSpPr>
      <p:sp>
        <p:nvSpPr>
          <p:cNvPr id="6" name="TextBox 6">
            <a:extLst>
              <a:ext uri="{FF2B5EF4-FFF2-40B4-BE49-F238E27FC236}">
                <a16:creationId xmlns:a16="http://schemas.microsoft.com/office/drawing/2014/main" id="{87637119-A604-A6C6-DE19-CADE63F00AB2}"/>
              </a:ext>
            </a:extLst>
          </p:cNvPr>
          <p:cNvSpPr txBox="1"/>
          <p:nvPr/>
        </p:nvSpPr>
        <p:spPr>
          <a:xfrm>
            <a:off x="1036320" y="1170632"/>
            <a:ext cx="10736412" cy="1094530"/>
          </a:xfrm>
          <a:prstGeom prst="rect">
            <a:avLst/>
          </a:prstGeom>
        </p:spPr>
        <p:txBody>
          <a:bodyPr lIns="0" tIns="0" rIns="0" bIns="0" rtlCol="0" anchor="t">
            <a:spAutoFit/>
          </a:bodyPr>
          <a:lstStyle/>
          <a:p>
            <a:pPr algn="ctr">
              <a:lnSpc>
                <a:spcPts val="8489"/>
              </a:lnSpc>
            </a:pPr>
            <a:r>
              <a:rPr lang="en-IN" sz="7200" dirty="0">
                <a:latin typeface="League Spartan" panose="020B0604020202020204" charset="0"/>
              </a:rPr>
              <a:t>Purpose of the System</a:t>
            </a:r>
            <a:endParaRPr lang="en-US" sz="6901" dirty="0">
              <a:solidFill>
                <a:srgbClr val="000000"/>
              </a:solidFill>
              <a:latin typeface="League Spartan" panose="020B0604020202020204" charset="0"/>
              <a:ea typeface="League Spartan"/>
              <a:cs typeface="League Spartan"/>
              <a:sym typeface="League Spartan"/>
            </a:endParaRPr>
          </a:p>
        </p:txBody>
      </p:sp>
      <p:sp>
        <p:nvSpPr>
          <p:cNvPr id="7" name="Freeform 7">
            <a:extLst>
              <a:ext uri="{FF2B5EF4-FFF2-40B4-BE49-F238E27FC236}">
                <a16:creationId xmlns:a16="http://schemas.microsoft.com/office/drawing/2014/main" id="{4D9394D3-A9C7-A579-0C29-9C03B91294CF}"/>
              </a:ext>
            </a:extLst>
          </p:cNvPr>
          <p:cNvSpPr/>
          <p:nvPr/>
        </p:nvSpPr>
        <p:spPr>
          <a:xfrm>
            <a:off x="12427393" y="-336107"/>
            <a:ext cx="10959214" cy="10959214"/>
          </a:xfrm>
          <a:custGeom>
            <a:avLst/>
            <a:gdLst/>
            <a:ahLst/>
            <a:cxnLst/>
            <a:rect l="l" t="t" r="r" b="b"/>
            <a:pathLst>
              <a:path w="10959214" h="10959214">
                <a:moveTo>
                  <a:pt x="0" y="0"/>
                </a:moveTo>
                <a:lnTo>
                  <a:pt x="10959213" y="0"/>
                </a:lnTo>
                <a:lnTo>
                  <a:pt x="10959213" y="10959214"/>
                </a:lnTo>
                <a:lnTo>
                  <a:pt x="0" y="10959214"/>
                </a:lnTo>
                <a:lnTo>
                  <a:pt x="0" y="0"/>
                </a:lnTo>
                <a:close/>
              </a:path>
            </a:pathLst>
          </a:custGeom>
          <a:blipFill>
            <a:blip r:embed="rId2">
              <a:alphaModFix amt="90000"/>
              <a:extLst>
                <a:ext uri="{96DAC541-7B7A-43D3-8B79-37D633B846F1}">
                  <asvg:svgBlip xmlns:asvg="http://schemas.microsoft.com/office/drawing/2016/SVG/main" r:embed="rId3"/>
                </a:ext>
              </a:extLst>
            </a:blip>
            <a:stretch>
              <a:fillRect/>
            </a:stretch>
          </a:blipFill>
        </p:spPr>
      </p:sp>
      <p:sp>
        <p:nvSpPr>
          <p:cNvPr id="16" name="TextBox 15">
            <a:extLst>
              <a:ext uri="{FF2B5EF4-FFF2-40B4-BE49-F238E27FC236}">
                <a16:creationId xmlns:a16="http://schemas.microsoft.com/office/drawing/2014/main" id="{5D26998E-486D-68D4-2225-FBF823C97A66}"/>
              </a:ext>
            </a:extLst>
          </p:cNvPr>
          <p:cNvSpPr txBox="1"/>
          <p:nvPr/>
        </p:nvSpPr>
        <p:spPr>
          <a:xfrm>
            <a:off x="1066800" y="3771900"/>
            <a:ext cx="12733020" cy="3316742"/>
          </a:xfrm>
          <a:prstGeom prst="rect">
            <a:avLst/>
          </a:prstGeom>
          <a:noFill/>
        </p:spPr>
        <p:txBody>
          <a:bodyPr wrap="square">
            <a:spAutoFit/>
          </a:bodyPr>
          <a:lstStyle/>
          <a:p>
            <a:pPr marL="571500" indent="-571500">
              <a:lnSpc>
                <a:spcPct val="150000"/>
              </a:lnSpc>
              <a:buFont typeface="Courier New" panose="02070309020205020404" pitchFamily="49" charset="0"/>
              <a:buChar char="o"/>
            </a:pPr>
            <a:r>
              <a:rPr lang="en-US" sz="3600" dirty="0">
                <a:latin typeface="Times New Roman" panose="02020603050405020304" pitchFamily="18" charset="0"/>
                <a:cs typeface="Times New Roman" panose="02020603050405020304" pitchFamily="18" charset="0"/>
              </a:rPr>
              <a:t>To make the recruitment process digital and simple</a:t>
            </a:r>
          </a:p>
          <a:p>
            <a:pPr marL="571500" indent="-571500">
              <a:lnSpc>
                <a:spcPct val="150000"/>
              </a:lnSpc>
              <a:buFont typeface="Courier New" panose="02070309020205020404" pitchFamily="49" charset="0"/>
              <a:buChar char="o"/>
            </a:pPr>
            <a:r>
              <a:rPr lang="en-US" sz="3600" dirty="0">
                <a:latin typeface="Times New Roman" panose="02020603050405020304" pitchFamily="18" charset="0"/>
                <a:cs typeface="Times New Roman" panose="02020603050405020304" pitchFamily="18" charset="0"/>
              </a:rPr>
              <a:t>To help companies manage jobs and applications easily</a:t>
            </a:r>
          </a:p>
          <a:p>
            <a:pPr marL="571500" indent="-571500">
              <a:lnSpc>
                <a:spcPct val="150000"/>
              </a:lnSpc>
              <a:buFont typeface="Courier New" panose="02070309020205020404" pitchFamily="49" charset="0"/>
              <a:buChar char="o"/>
            </a:pPr>
            <a:r>
              <a:rPr lang="en-US" sz="3600" dirty="0">
                <a:latin typeface="Times New Roman" panose="02020603050405020304" pitchFamily="18" charset="0"/>
                <a:cs typeface="Times New Roman" panose="02020603050405020304" pitchFamily="18" charset="0"/>
              </a:rPr>
              <a:t>To allow candidates to search and apply for jobs online</a:t>
            </a:r>
          </a:p>
          <a:p>
            <a:pPr marL="571500" indent="-571500">
              <a:lnSpc>
                <a:spcPct val="150000"/>
              </a:lnSpc>
              <a:buFont typeface="Courier New" panose="02070309020205020404" pitchFamily="49" charset="0"/>
              <a:buChar char="o"/>
            </a:pPr>
            <a:r>
              <a:rPr lang="en-US" sz="3600" dirty="0">
                <a:latin typeface="Times New Roman" panose="02020603050405020304" pitchFamily="18" charset="0"/>
                <a:cs typeface="Times New Roman" panose="02020603050405020304" pitchFamily="18" charset="0"/>
              </a:rPr>
              <a:t>To save time and reduce manual work</a:t>
            </a:r>
          </a:p>
        </p:txBody>
      </p:sp>
    </p:spTree>
    <p:extLst>
      <p:ext uri="{BB962C8B-B14F-4D97-AF65-F5344CB8AC3E}">
        <p14:creationId xmlns:p14="http://schemas.microsoft.com/office/powerpoint/2010/main" val="12343629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a:extLst>
            <a:ext uri="{FF2B5EF4-FFF2-40B4-BE49-F238E27FC236}">
              <a16:creationId xmlns:a16="http://schemas.microsoft.com/office/drawing/2014/main" id="{07E75287-C3F1-489E-2A1A-2542E864581A}"/>
            </a:ext>
          </a:extLst>
        </p:cNvPr>
        <p:cNvGrpSpPr/>
        <p:nvPr/>
      </p:nvGrpSpPr>
      <p:grpSpPr>
        <a:xfrm>
          <a:off x="0" y="0"/>
          <a:ext cx="0" cy="0"/>
          <a:chOff x="0" y="0"/>
          <a:chExt cx="0" cy="0"/>
        </a:xfrm>
      </p:grpSpPr>
      <p:sp>
        <p:nvSpPr>
          <p:cNvPr id="6" name="TextBox 6">
            <a:extLst>
              <a:ext uri="{FF2B5EF4-FFF2-40B4-BE49-F238E27FC236}">
                <a16:creationId xmlns:a16="http://schemas.microsoft.com/office/drawing/2014/main" id="{9B087315-8362-888B-3C0E-E2E125EC5E65}"/>
              </a:ext>
            </a:extLst>
          </p:cNvPr>
          <p:cNvSpPr txBox="1"/>
          <p:nvPr/>
        </p:nvSpPr>
        <p:spPr>
          <a:xfrm>
            <a:off x="3168321" y="952500"/>
            <a:ext cx="10736412" cy="1094530"/>
          </a:xfrm>
          <a:prstGeom prst="rect">
            <a:avLst/>
          </a:prstGeom>
        </p:spPr>
        <p:txBody>
          <a:bodyPr lIns="0" tIns="0" rIns="0" bIns="0" rtlCol="0" anchor="t">
            <a:spAutoFit/>
          </a:bodyPr>
          <a:lstStyle/>
          <a:p>
            <a:pPr algn="ctr">
              <a:lnSpc>
                <a:spcPts val="8489"/>
              </a:lnSpc>
            </a:pPr>
            <a:r>
              <a:rPr lang="en-IN" sz="7200" dirty="0">
                <a:latin typeface="League Spartan" panose="020B0604020202020204" charset="0"/>
              </a:rPr>
              <a:t>System Overview</a:t>
            </a:r>
            <a:endParaRPr lang="en-US" sz="6901" dirty="0">
              <a:solidFill>
                <a:srgbClr val="000000"/>
              </a:solidFill>
              <a:latin typeface="League Spartan" panose="020B0604020202020204" charset="0"/>
              <a:ea typeface="League Spartan"/>
              <a:cs typeface="League Spartan"/>
              <a:sym typeface="League Spartan"/>
            </a:endParaRPr>
          </a:p>
        </p:txBody>
      </p:sp>
      <p:sp>
        <p:nvSpPr>
          <p:cNvPr id="7" name="Freeform 7">
            <a:extLst>
              <a:ext uri="{FF2B5EF4-FFF2-40B4-BE49-F238E27FC236}">
                <a16:creationId xmlns:a16="http://schemas.microsoft.com/office/drawing/2014/main" id="{E890B973-F620-B009-2C44-3E416240D060}"/>
              </a:ext>
            </a:extLst>
          </p:cNvPr>
          <p:cNvSpPr/>
          <p:nvPr/>
        </p:nvSpPr>
        <p:spPr>
          <a:xfrm>
            <a:off x="15240000" y="-336107"/>
            <a:ext cx="10959214" cy="10959214"/>
          </a:xfrm>
          <a:custGeom>
            <a:avLst/>
            <a:gdLst/>
            <a:ahLst/>
            <a:cxnLst/>
            <a:rect l="l" t="t" r="r" b="b"/>
            <a:pathLst>
              <a:path w="10959214" h="10959214">
                <a:moveTo>
                  <a:pt x="0" y="0"/>
                </a:moveTo>
                <a:lnTo>
                  <a:pt x="10959213" y="0"/>
                </a:lnTo>
                <a:lnTo>
                  <a:pt x="10959213" y="10959214"/>
                </a:lnTo>
                <a:lnTo>
                  <a:pt x="0" y="10959214"/>
                </a:lnTo>
                <a:lnTo>
                  <a:pt x="0" y="0"/>
                </a:lnTo>
                <a:close/>
              </a:path>
            </a:pathLst>
          </a:custGeom>
          <a:blipFill>
            <a:blip r:embed="rId2">
              <a:alphaModFix amt="90000"/>
              <a:extLst>
                <a:ext uri="{96DAC541-7B7A-43D3-8B79-37D633B846F1}">
                  <asvg:svgBlip xmlns:asvg="http://schemas.microsoft.com/office/drawing/2016/SVG/main" r:embed="rId3"/>
                </a:ext>
              </a:extLst>
            </a:blip>
            <a:stretch>
              <a:fillRect/>
            </a:stretch>
          </a:blipFill>
        </p:spPr>
      </p:sp>
      <p:sp>
        <p:nvSpPr>
          <p:cNvPr id="8" name="Freeform 8">
            <a:extLst>
              <a:ext uri="{FF2B5EF4-FFF2-40B4-BE49-F238E27FC236}">
                <a16:creationId xmlns:a16="http://schemas.microsoft.com/office/drawing/2014/main" id="{9D9D85A8-FD7B-EADD-F7EF-83E36C629E3E}"/>
              </a:ext>
            </a:extLst>
          </p:cNvPr>
          <p:cNvSpPr/>
          <p:nvPr/>
        </p:nvSpPr>
        <p:spPr>
          <a:xfrm>
            <a:off x="-4798657" y="-358967"/>
            <a:ext cx="6783048" cy="6783048"/>
          </a:xfrm>
          <a:custGeom>
            <a:avLst/>
            <a:gdLst/>
            <a:ahLst/>
            <a:cxnLst/>
            <a:rect l="l" t="t" r="r" b="b"/>
            <a:pathLst>
              <a:path w="6783048" h="6783048">
                <a:moveTo>
                  <a:pt x="0" y="0"/>
                </a:moveTo>
                <a:lnTo>
                  <a:pt x="6783048" y="0"/>
                </a:lnTo>
                <a:lnTo>
                  <a:pt x="6783048" y="6783048"/>
                </a:lnTo>
                <a:lnTo>
                  <a:pt x="0" y="6783048"/>
                </a:lnTo>
                <a:lnTo>
                  <a:pt x="0" y="0"/>
                </a:lnTo>
                <a:close/>
              </a:path>
            </a:pathLst>
          </a:custGeom>
          <a:blipFill>
            <a:blip r:embed="rId4">
              <a:alphaModFix amt="90000"/>
              <a:extLst>
                <a:ext uri="{96DAC541-7B7A-43D3-8B79-37D633B846F1}">
                  <asvg:svgBlip xmlns:asvg="http://schemas.microsoft.com/office/drawing/2016/SVG/main" r:embed="rId5"/>
                </a:ext>
              </a:extLst>
            </a:blip>
            <a:stretch>
              <a:fillRect/>
            </a:stretch>
          </a:blipFill>
        </p:spPr>
      </p:sp>
      <p:sp>
        <p:nvSpPr>
          <p:cNvPr id="9" name="Freeform 9">
            <a:extLst>
              <a:ext uri="{FF2B5EF4-FFF2-40B4-BE49-F238E27FC236}">
                <a16:creationId xmlns:a16="http://schemas.microsoft.com/office/drawing/2014/main" id="{18E2B66D-375E-0A2A-2C24-DA108A3D2D0F}"/>
              </a:ext>
            </a:extLst>
          </p:cNvPr>
          <p:cNvSpPr/>
          <p:nvPr/>
        </p:nvSpPr>
        <p:spPr>
          <a:xfrm rot="-5400000">
            <a:off x="15392964" y="1171304"/>
            <a:ext cx="2387900" cy="1202633"/>
          </a:xfrm>
          <a:custGeom>
            <a:avLst/>
            <a:gdLst/>
            <a:ahLst/>
            <a:cxnLst/>
            <a:rect l="l" t="t" r="r" b="b"/>
            <a:pathLst>
              <a:path w="2387900" h="1202633">
                <a:moveTo>
                  <a:pt x="0" y="0"/>
                </a:moveTo>
                <a:lnTo>
                  <a:pt x="2387901" y="0"/>
                </a:lnTo>
                <a:lnTo>
                  <a:pt x="2387901" y="1202634"/>
                </a:lnTo>
                <a:lnTo>
                  <a:pt x="0" y="120263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6" name="TextBox 15">
            <a:extLst>
              <a:ext uri="{FF2B5EF4-FFF2-40B4-BE49-F238E27FC236}">
                <a16:creationId xmlns:a16="http://schemas.microsoft.com/office/drawing/2014/main" id="{9F364AA0-63B3-A6D2-EDC8-0110BBBB8470}"/>
              </a:ext>
            </a:extLst>
          </p:cNvPr>
          <p:cNvSpPr txBox="1"/>
          <p:nvPr/>
        </p:nvSpPr>
        <p:spPr>
          <a:xfrm>
            <a:off x="4427217" y="2924084"/>
            <a:ext cx="12496800" cy="600164"/>
          </a:xfrm>
          <a:prstGeom prst="rect">
            <a:avLst/>
          </a:prstGeom>
          <a:noFill/>
        </p:spPr>
        <p:txBody>
          <a:bodyPr wrap="square">
            <a:spAutoFit/>
          </a:bodyPr>
          <a:lstStyle/>
          <a:p>
            <a:pPr algn="just"/>
            <a:r>
              <a:rPr lang="en-US" sz="3300" dirty="0">
                <a:latin typeface="Times New Roman" panose="02020603050405020304" pitchFamily="18" charset="0"/>
                <a:cs typeface="Times New Roman" panose="02020603050405020304" pitchFamily="18" charset="0"/>
              </a:rPr>
              <a:t>The system operates with three primary user roles:</a:t>
            </a:r>
            <a:endParaRPr lang="en-IN" sz="3300" dirty="0">
              <a:latin typeface="Times New Roman" panose="02020603050405020304" pitchFamily="18" charset="0"/>
              <a:cs typeface="Times New Roman" panose="02020603050405020304" pitchFamily="18" charset="0"/>
            </a:endParaRPr>
          </a:p>
        </p:txBody>
      </p:sp>
      <p:sp>
        <p:nvSpPr>
          <p:cNvPr id="2" name="Rectangle: Rounded Corners 1">
            <a:extLst>
              <a:ext uri="{FF2B5EF4-FFF2-40B4-BE49-F238E27FC236}">
                <a16:creationId xmlns:a16="http://schemas.microsoft.com/office/drawing/2014/main" id="{919E2F0B-1597-A408-8953-143A0D951903}"/>
              </a:ext>
            </a:extLst>
          </p:cNvPr>
          <p:cNvSpPr/>
          <p:nvPr/>
        </p:nvSpPr>
        <p:spPr>
          <a:xfrm>
            <a:off x="7757157" y="4209277"/>
            <a:ext cx="2057400" cy="611057"/>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7DFC6A67-0229-0819-43AB-99B4760C9D27}"/>
              </a:ext>
            </a:extLst>
          </p:cNvPr>
          <p:cNvSpPr txBox="1"/>
          <p:nvPr/>
        </p:nvSpPr>
        <p:spPr>
          <a:xfrm>
            <a:off x="7757157" y="4209277"/>
            <a:ext cx="2057400" cy="646331"/>
          </a:xfrm>
          <a:prstGeom prst="rect">
            <a:avLst/>
          </a:prstGeom>
          <a:noFill/>
        </p:spPr>
        <p:txBody>
          <a:bodyPr wrap="square" rtlCol="0">
            <a:spAutoFit/>
          </a:bodyPr>
          <a:lstStyle/>
          <a:p>
            <a:pPr algn="ctr"/>
            <a:r>
              <a:rPr lang="en-US" sz="3600" dirty="0">
                <a:solidFill>
                  <a:schemeClr val="bg1"/>
                </a:solidFill>
                <a:latin typeface="Times New Roman" panose="02020603050405020304" pitchFamily="18" charset="0"/>
                <a:cs typeface="Times New Roman" panose="02020603050405020304" pitchFamily="18" charset="0"/>
              </a:rPr>
              <a:t>Roles</a:t>
            </a:r>
            <a:endParaRPr lang="en-IN" sz="3600" dirty="0">
              <a:solidFill>
                <a:schemeClr val="bg1"/>
              </a:solidFill>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EA3BA157-B2B5-35F6-B674-0F7EAB2975E1}"/>
              </a:ext>
            </a:extLst>
          </p:cNvPr>
          <p:cNvSpPr/>
          <p:nvPr/>
        </p:nvSpPr>
        <p:spPr>
          <a:xfrm>
            <a:off x="3627114" y="8115300"/>
            <a:ext cx="2484120" cy="646331"/>
          </a:xfrm>
          <a:prstGeom prst="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04E2B3E1-077D-C108-D0BC-C8804C158D8B}"/>
              </a:ext>
            </a:extLst>
          </p:cNvPr>
          <p:cNvSpPr txBox="1"/>
          <p:nvPr/>
        </p:nvSpPr>
        <p:spPr>
          <a:xfrm>
            <a:off x="3627115" y="8115300"/>
            <a:ext cx="2484120" cy="553998"/>
          </a:xfrm>
          <a:prstGeom prst="rect">
            <a:avLst/>
          </a:prstGeom>
          <a:noFill/>
        </p:spPr>
        <p:txBody>
          <a:bodyPr wrap="square" rtlCol="0">
            <a:spAutoFit/>
          </a:bodyPr>
          <a:lstStyle/>
          <a:p>
            <a:pPr algn="ctr"/>
            <a:r>
              <a:rPr lang="en-IN" sz="3000" dirty="0">
                <a:solidFill>
                  <a:schemeClr val="bg1"/>
                </a:solidFill>
                <a:latin typeface="Times New Roman" panose="02020603050405020304" pitchFamily="18" charset="0"/>
                <a:cs typeface="Times New Roman" panose="02020603050405020304" pitchFamily="18" charset="0"/>
              </a:rPr>
              <a:t>Administrator</a:t>
            </a:r>
          </a:p>
        </p:txBody>
      </p:sp>
      <p:sp>
        <p:nvSpPr>
          <p:cNvPr id="12" name="Rectangle 11">
            <a:extLst>
              <a:ext uri="{FF2B5EF4-FFF2-40B4-BE49-F238E27FC236}">
                <a16:creationId xmlns:a16="http://schemas.microsoft.com/office/drawing/2014/main" id="{F409D17C-14B2-ADB3-EBA7-1DED6A9E22BA}"/>
              </a:ext>
            </a:extLst>
          </p:cNvPr>
          <p:cNvSpPr/>
          <p:nvPr/>
        </p:nvSpPr>
        <p:spPr>
          <a:xfrm>
            <a:off x="7757157" y="8115300"/>
            <a:ext cx="2484120" cy="646331"/>
          </a:xfrm>
          <a:prstGeom prst="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9CF42B38-6692-15C3-5A56-C73B46EA61F4}"/>
              </a:ext>
            </a:extLst>
          </p:cNvPr>
          <p:cNvSpPr txBox="1"/>
          <p:nvPr/>
        </p:nvSpPr>
        <p:spPr>
          <a:xfrm>
            <a:off x="7757158" y="8115300"/>
            <a:ext cx="2484120" cy="584775"/>
          </a:xfrm>
          <a:prstGeom prst="rect">
            <a:avLst/>
          </a:prstGeom>
          <a:noFill/>
        </p:spPr>
        <p:txBody>
          <a:bodyPr wrap="square" rtlCol="0">
            <a:spAutoFit/>
          </a:bodyPr>
          <a:lstStyle/>
          <a:p>
            <a:pPr algn="ctr"/>
            <a:r>
              <a:rPr lang="en-IN" sz="3200" dirty="0">
                <a:solidFill>
                  <a:schemeClr val="bg1"/>
                </a:solidFill>
                <a:latin typeface="Times New Roman" panose="02020603050405020304" pitchFamily="18" charset="0"/>
                <a:cs typeface="Times New Roman" panose="02020603050405020304" pitchFamily="18" charset="0"/>
              </a:rPr>
              <a:t>Recruiter</a:t>
            </a:r>
            <a:endParaRPr lang="en-IN" sz="3000" dirty="0">
              <a:solidFill>
                <a:schemeClr val="bg1"/>
              </a:solidFill>
              <a:latin typeface="Times New Roman" panose="02020603050405020304" pitchFamily="18" charset="0"/>
              <a:cs typeface="Times New Roman" panose="02020603050405020304" pitchFamily="18" charset="0"/>
            </a:endParaRPr>
          </a:p>
        </p:txBody>
      </p:sp>
      <p:sp>
        <p:nvSpPr>
          <p:cNvPr id="14" name="Rectangle 13">
            <a:extLst>
              <a:ext uri="{FF2B5EF4-FFF2-40B4-BE49-F238E27FC236}">
                <a16:creationId xmlns:a16="http://schemas.microsoft.com/office/drawing/2014/main" id="{9DA748A2-BD3B-6A0E-F5CC-C12776645B39}"/>
              </a:ext>
            </a:extLst>
          </p:cNvPr>
          <p:cNvSpPr/>
          <p:nvPr/>
        </p:nvSpPr>
        <p:spPr>
          <a:xfrm>
            <a:off x="11887199" y="8115300"/>
            <a:ext cx="2484120" cy="646331"/>
          </a:xfrm>
          <a:prstGeom prst="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IN"/>
          </a:p>
        </p:txBody>
      </p:sp>
      <p:sp>
        <p:nvSpPr>
          <p:cNvPr id="15" name="TextBox 14">
            <a:extLst>
              <a:ext uri="{FF2B5EF4-FFF2-40B4-BE49-F238E27FC236}">
                <a16:creationId xmlns:a16="http://schemas.microsoft.com/office/drawing/2014/main" id="{8CAB65D1-1E0E-D308-2A45-559919786D15}"/>
              </a:ext>
            </a:extLst>
          </p:cNvPr>
          <p:cNvSpPr txBox="1"/>
          <p:nvPr/>
        </p:nvSpPr>
        <p:spPr>
          <a:xfrm>
            <a:off x="11887200" y="8115300"/>
            <a:ext cx="2484120" cy="584775"/>
          </a:xfrm>
          <a:prstGeom prst="rect">
            <a:avLst/>
          </a:prstGeom>
          <a:noFill/>
        </p:spPr>
        <p:txBody>
          <a:bodyPr wrap="square" rtlCol="0">
            <a:spAutoFit/>
          </a:bodyPr>
          <a:lstStyle/>
          <a:p>
            <a:pPr algn="ctr"/>
            <a:r>
              <a:rPr lang="en-IN" sz="3200" dirty="0">
                <a:solidFill>
                  <a:schemeClr val="bg1"/>
                </a:solidFill>
                <a:latin typeface="Times New Roman" panose="02020603050405020304" pitchFamily="18" charset="0"/>
                <a:cs typeface="Times New Roman" panose="02020603050405020304" pitchFamily="18" charset="0"/>
              </a:rPr>
              <a:t>Candidate</a:t>
            </a:r>
            <a:endParaRPr lang="en-IN" sz="3000" dirty="0">
              <a:solidFill>
                <a:schemeClr val="bg1"/>
              </a:solidFill>
              <a:latin typeface="Times New Roman" panose="02020603050405020304" pitchFamily="18" charset="0"/>
              <a:cs typeface="Times New Roman" panose="02020603050405020304" pitchFamily="18" charset="0"/>
            </a:endParaRPr>
          </a:p>
        </p:txBody>
      </p:sp>
      <p:pic>
        <p:nvPicPr>
          <p:cNvPr id="18" name="Picture 17">
            <a:extLst>
              <a:ext uri="{FF2B5EF4-FFF2-40B4-BE49-F238E27FC236}">
                <a16:creationId xmlns:a16="http://schemas.microsoft.com/office/drawing/2014/main" id="{7CD361F0-E0A5-05DE-4D5A-B55318318EB1}"/>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69825" b="88484" l="66684" r="72965"/>
                    </a14:imgEffect>
                  </a14:imgLayer>
                </a14:imgProps>
              </a:ext>
              <a:ext uri="{28A0092B-C50C-407E-A947-70E740481C1C}">
                <a14:useLocalDpi xmlns:a14="http://schemas.microsoft.com/office/drawing/2010/main" val="0"/>
              </a:ext>
            </a:extLst>
          </a:blip>
          <a:srcRect l="65899" t="67493" r="26250" b="9184"/>
          <a:stretch>
            <a:fillRect/>
          </a:stretch>
        </p:blipFill>
        <p:spPr>
          <a:xfrm>
            <a:off x="3931920" y="6309966"/>
            <a:ext cx="1874520" cy="1989730"/>
          </a:xfrm>
          <a:prstGeom prst="rect">
            <a:avLst/>
          </a:prstGeom>
        </p:spPr>
      </p:pic>
      <p:pic>
        <p:nvPicPr>
          <p:cNvPr id="20" name="Picture 19">
            <a:extLst>
              <a:ext uri="{FF2B5EF4-FFF2-40B4-BE49-F238E27FC236}">
                <a16:creationId xmlns:a16="http://schemas.microsoft.com/office/drawing/2014/main" id="{1B7C24A0-A9D3-8886-0D72-48DD0153EE67}"/>
              </a:ext>
            </a:extLst>
          </p:cNvPr>
          <p:cNvPicPr>
            <a:picLocks noChangeAspect="1"/>
          </p:cNvPicPr>
          <p:nvPr/>
        </p:nvPicPr>
        <p:blipFill>
          <a:blip r:embed="rId10">
            <a:extLst>
              <a:ext uri="{BEBA8EAE-BF5A-486C-A8C5-ECC9F3942E4B}">
                <a14:imgProps xmlns:a14="http://schemas.microsoft.com/office/drawing/2010/main">
                  <a14:imgLayer r:embed="rId9">
                    <a14:imgEffect>
                      <a14:backgroundRemoval t="38222" b="55947" l="40900" r="47507"/>
                    </a14:imgEffect>
                  </a14:imgLayer>
                </a14:imgProps>
              </a:ext>
              <a:ext uri="{28A0092B-C50C-407E-A947-70E740481C1C}">
                <a14:useLocalDpi xmlns:a14="http://schemas.microsoft.com/office/drawing/2010/main" val="0"/>
              </a:ext>
            </a:extLst>
          </a:blip>
          <a:srcRect l="40074" t="36006" r="51667" b="41837"/>
          <a:stretch>
            <a:fillRect/>
          </a:stretch>
        </p:blipFill>
        <p:spPr>
          <a:xfrm>
            <a:off x="8134963" y="6480026"/>
            <a:ext cx="1874519" cy="1796810"/>
          </a:xfrm>
          <a:prstGeom prst="rect">
            <a:avLst/>
          </a:prstGeom>
        </p:spPr>
      </p:pic>
      <p:pic>
        <p:nvPicPr>
          <p:cNvPr id="26" name="Picture 25">
            <a:extLst>
              <a:ext uri="{FF2B5EF4-FFF2-40B4-BE49-F238E27FC236}">
                <a16:creationId xmlns:a16="http://schemas.microsoft.com/office/drawing/2014/main" id="{D27299D5-0E31-C3F2-6290-230FBD8B0C29}"/>
              </a:ext>
            </a:extLst>
          </p:cNvPr>
          <p:cNvPicPr>
            <a:picLocks noChangeAspect="1"/>
          </p:cNvPicPr>
          <p:nvPr/>
        </p:nvPicPr>
        <p:blipFill>
          <a:blip r:embed="rId11">
            <a:extLst>
              <a:ext uri="{BEBA8EAE-BF5A-486C-A8C5-ECC9F3942E4B}">
                <a14:imgProps xmlns:a14="http://schemas.microsoft.com/office/drawing/2010/main">
                  <a14:imgLayer r:embed="rId9">
                    <a14:imgEffect>
                      <a14:backgroundRemoval t="37406" b="57931" l="91220" r="99024">
                        <a14:foregroundMark x1="95521" y1="44023" x2="96927" y2="45190"/>
                        <a14:foregroundMark x1="93646" y1="46064" x2="93958" y2="45190"/>
                        <a14:foregroundMark x1="97552" y1="47085" x2="97552" y2="46501"/>
                        <a14:foregroundMark x1="97552" y1="46064" x2="97969" y2="45918"/>
                        <a14:foregroundMark x1="97865" y1="45335" x2="97500" y2="44169"/>
                        <a14:foregroundMark x1="97865" y1="46064" x2="97969" y2="47085"/>
                        <a14:foregroundMark x1="97656" y1="45627" x2="97656" y2="44752"/>
                        <a14:backgroundMark x1="97648" y1="47442" x2="97865" y2="48397"/>
                        <a14:backgroundMark x1="97135" y1="45190" x2="97447" y2="46561"/>
                        <a14:backgroundMark x1="97369" y1="47551" x2="97533" y2="48544"/>
                        <a14:backgroundMark x1="96979" y1="45190" x2="97208" y2="46576"/>
                        <a14:backgroundMark x1="96771" y1="45335" x2="96927" y2="45190"/>
                      </a14:backgroundRemoval>
                    </a14:imgEffect>
                  </a14:imgLayer>
                </a14:imgProps>
              </a:ext>
              <a:ext uri="{28A0092B-C50C-407E-A947-70E740481C1C}">
                <a14:useLocalDpi xmlns:a14="http://schemas.microsoft.com/office/drawing/2010/main" val="0"/>
              </a:ext>
            </a:extLst>
          </a:blip>
          <a:srcRect l="90244" t="34840" b="39504"/>
          <a:stretch>
            <a:fillRect/>
          </a:stretch>
        </p:blipFill>
        <p:spPr>
          <a:xfrm>
            <a:off x="11871958" y="6487646"/>
            <a:ext cx="2322618" cy="2129068"/>
          </a:xfrm>
          <a:prstGeom prst="rect">
            <a:avLst/>
          </a:prstGeom>
        </p:spPr>
      </p:pic>
      <p:cxnSp>
        <p:nvCxnSpPr>
          <p:cNvPr id="28" name="Straight Arrow Connector 27">
            <a:extLst>
              <a:ext uri="{FF2B5EF4-FFF2-40B4-BE49-F238E27FC236}">
                <a16:creationId xmlns:a16="http://schemas.microsoft.com/office/drawing/2014/main" id="{C26687EE-5F87-D853-0170-9DF95B0A439F}"/>
              </a:ext>
            </a:extLst>
          </p:cNvPr>
          <p:cNvCxnSpPr>
            <a:stCxn id="3" idx="2"/>
          </p:cNvCxnSpPr>
          <p:nvPr/>
        </p:nvCxnSpPr>
        <p:spPr>
          <a:xfrm flipH="1">
            <a:off x="5562600" y="4855608"/>
            <a:ext cx="3223257" cy="204049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 name="Straight Arrow Connector 29">
            <a:extLst>
              <a:ext uri="{FF2B5EF4-FFF2-40B4-BE49-F238E27FC236}">
                <a16:creationId xmlns:a16="http://schemas.microsoft.com/office/drawing/2014/main" id="{89E6B4EF-FC6D-654F-A465-F5060E46618B}"/>
              </a:ext>
            </a:extLst>
          </p:cNvPr>
          <p:cNvCxnSpPr>
            <a:stCxn id="3" idx="2"/>
          </p:cNvCxnSpPr>
          <p:nvPr/>
        </p:nvCxnSpPr>
        <p:spPr>
          <a:xfrm>
            <a:off x="8785857" y="4855608"/>
            <a:ext cx="0" cy="145435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2" name="Straight Arrow Connector 31">
            <a:extLst>
              <a:ext uri="{FF2B5EF4-FFF2-40B4-BE49-F238E27FC236}">
                <a16:creationId xmlns:a16="http://schemas.microsoft.com/office/drawing/2014/main" id="{8690C98D-234C-3EAC-5763-4B1C28782AD2}"/>
              </a:ext>
            </a:extLst>
          </p:cNvPr>
          <p:cNvCxnSpPr>
            <a:stCxn id="3" idx="2"/>
          </p:cNvCxnSpPr>
          <p:nvPr/>
        </p:nvCxnSpPr>
        <p:spPr>
          <a:xfrm>
            <a:off x="8785857" y="4855608"/>
            <a:ext cx="3482343" cy="219289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8473523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a:extLst>
            <a:ext uri="{FF2B5EF4-FFF2-40B4-BE49-F238E27FC236}">
              <a16:creationId xmlns:a16="http://schemas.microsoft.com/office/drawing/2014/main" id="{D1AE6C4D-3F18-3A2E-013A-476F05C8A39D}"/>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0045AFA7-8B3B-1E25-AF41-941419C0B72D}"/>
              </a:ext>
            </a:extLst>
          </p:cNvPr>
          <p:cNvSpPr/>
          <p:nvPr/>
        </p:nvSpPr>
        <p:spPr>
          <a:xfrm>
            <a:off x="0" y="-38100"/>
            <a:ext cx="18288000" cy="2047030"/>
          </a:xfrm>
          <a:prstGeom prst="rect">
            <a:avLst/>
          </a:prstGeom>
          <a:gradFill flip="none" rotWithShape="1">
            <a:gsLst>
              <a:gs pos="0">
                <a:schemeClr val="accent6">
                  <a:shade val="51000"/>
                  <a:satMod val="130000"/>
                </a:schemeClr>
              </a:gs>
              <a:gs pos="80000">
                <a:schemeClr val="accent6">
                  <a:shade val="93000"/>
                  <a:satMod val="130000"/>
                </a:schemeClr>
              </a:gs>
              <a:gs pos="100000">
                <a:schemeClr val="accent6">
                  <a:shade val="94000"/>
                  <a:satMod val="135000"/>
                </a:schemeClr>
              </a:gs>
            </a:gsLst>
            <a:lin ang="2700000" scaled="1"/>
            <a:tileRect/>
          </a:gradFill>
        </p:spPr>
        <p:style>
          <a:lnRef idx="0">
            <a:schemeClr val="accent6"/>
          </a:lnRef>
          <a:fillRef idx="3">
            <a:schemeClr val="accent6"/>
          </a:fillRef>
          <a:effectRef idx="3">
            <a:schemeClr val="accent6"/>
          </a:effectRef>
          <a:fontRef idx="minor">
            <a:schemeClr val="lt1"/>
          </a:fontRef>
        </p:style>
        <p:txBody>
          <a:bodyPr rtlCol="0" anchor="ctr"/>
          <a:lstStyle/>
          <a:p>
            <a:pPr algn="ctr"/>
            <a:endParaRPr lang="en-IN"/>
          </a:p>
        </p:txBody>
      </p:sp>
      <p:sp>
        <p:nvSpPr>
          <p:cNvPr id="6" name="TextBox 6">
            <a:extLst>
              <a:ext uri="{FF2B5EF4-FFF2-40B4-BE49-F238E27FC236}">
                <a16:creationId xmlns:a16="http://schemas.microsoft.com/office/drawing/2014/main" id="{1D20B7A4-49FF-FC4C-3B4E-04643DAB9A12}"/>
              </a:ext>
            </a:extLst>
          </p:cNvPr>
          <p:cNvSpPr txBox="1"/>
          <p:nvPr/>
        </p:nvSpPr>
        <p:spPr>
          <a:xfrm>
            <a:off x="3195803" y="499237"/>
            <a:ext cx="10736412" cy="1094530"/>
          </a:xfrm>
          <a:prstGeom prst="rect">
            <a:avLst/>
          </a:prstGeom>
        </p:spPr>
        <p:txBody>
          <a:bodyPr lIns="0" tIns="0" rIns="0" bIns="0" rtlCol="0" anchor="t">
            <a:spAutoFit/>
          </a:bodyPr>
          <a:lstStyle/>
          <a:p>
            <a:pPr algn="ctr">
              <a:lnSpc>
                <a:spcPts val="8489"/>
              </a:lnSpc>
            </a:pPr>
            <a:r>
              <a:rPr lang="en-IN" sz="7200" dirty="0">
                <a:latin typeface="League Spartan" panose="020B0604020202020204" charset="0"/>
              </a:rPr>
              <a:t>System Overview</a:t>
            </a:r>
            <a:endParaRPr lang="en-US" sz="6901" dirty="0">
              <a:solidFill>
                <a:srgbClr val="000000"/>
              </a:solidFill>
              <a:latin typeface="League Spartan" panose="020B0604020202020204" charset="0"/>
              <a:ea typeface="League Spartan"/>
              <a:cs typeface="League Spartan"/>
              <a:sym typeface="League Spartan"/>
            </a:endParaRPr>
          </a:p>
        </p:txBody>
      </p:sp>
      <p:sp>
        <p:nvSpPr>
          <p:cNvPr id="16" name="TextBox 15">
            <a:extLst>
              <a:ext uri="{FF2B5EF4-FFF2-40B4-BE49-F238E27FC236}">
                <a16:creationId xmlns:a16="http://schemas.microsoft.com/office/drawing/2014/main" id="{2C3B1DE9-AF3D-098B-AD80-B7C52279DA72}"/>
              </a:ext>
            </a:extLst>
          </p:cNvPr>
          <p:cNvSpPr txBox="1"/>
          <p:nvPr/>
        </p:nvSpPr>
        <p:spPr>
          <a:xfrm>
            <a:off x="3203298" y="2457205"/>
            <a:ext cx="12496800" cy="600164"/>
          </a:xfrm>
          <a:prstGeom prst="rect">
            <a:avLst/>
          </a:prstGeom>
          <a:noFill/>
        </p:spPr>
        <p:txBody>
          <a:bodyPr wrap="square">
            <a:spAutoFit/>
          </a:bodyPr>
          <a:lstStyle/>
          <a:p>
            <a:pPr algn="just"/>
            <a:r>
              <a:rPr lang="en-US" sz="3300" b="1" dirty="0">
                <a:latin typeface="Times New Roman" panose="02020603050405020304" pitchFamily="18" charset="0"/>
                <a:cs typeface="Times New Roman" panose="02020603050405020304" pitchFamily="18" charset="0"/>
              </a:rPr>
              <a:t>Three primary user roles, each with specific responsibilities:</a:t>
            </a:r>
            <a:endParaRPr lang="en-IN" sz="3300" b="1" dirty="0">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id="{BCA143DE-005F-CEE1-6D76-2471D39322FB}"/>
              </a:ext>
            </a:extLst>
          </p:cNvPr>
          <p:cNvSpPr txBox="1"/>
          <p:nvPr/>
        </p:nvSpPr>
        <p:spPr>
          <a:xfrm>
            <a:off x="1295400" y="3712339"/>
            <a:ext cx="8844197" cy="2862322"/>
          </a:xfrm>
          <a:prstGeom prst="rect">
            <a:avLst/>
          </a:prstGeom>
          <a:noFill/>
        </p:spPr>
        <p:txBody>
          <a:bodyPr wrap="square">
            <a:spAutoFit/>
          </a:bodyPr>
          <a:lstStyle/>
          <a:p>
            <a:pPr>
              <a:buNone/>
            </a:pPr>
            <a:r>
              <a:rPr lang="en-US" sz="3500" b="1" dirty="0">
                <a:solidFill>
                  <a:schemeClr val="accent2"/>
                </a:solidFill>
                <a:latin typeface="Times New Roman" panose="02020603050405020304" pitchFamily="18" charset="0"/>
                <a:cs typeface="Times New Roman" panose="02020603050405020304" pitchFamily="18" charset="0"/>
              </a:rPr>
              <a:t>Administrator</a:t>
            </a:r>
          </a:p>
          <a:p>
            <a:pPr>
              <a:buNone/>
            </a:pPr>
            <a:endParaRPr lang="en-US" sz="500" b="1" dirty="0">
              <a:solidFill>
                <a:schemeClr val="accent2"/>
              </a:solidFill>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en-US" sz="3500" dirty="0">
                <a:latin typeface="Times New Roman" panose="02020603050405020304" pitchFamily="18" charset="0"/>
                <a:cs typeface="Times New Roman" panose="02020603050405020304" pitchFamily="18" charset="0"/>
              </a:rPr>
              <a:t>Manages all registered users</a:t>
            </a:r>
          </a:p>
          <a:p>
            <a:pPr marL="914400" lvl="1" indent="-457200">
              <a:buFont typeface="Arial" panose="020B0604020202020204" pitchFamily="34" charset="0"/>
              <a:buChar char="•"/>
            </a:pPr>
            <a:r>
              <a:rPr lang="en-US" sz="3500" dirty="0">
                <a:latin typeface="Times New Roman" panose="02020603050405020304" pitchFamily="18" charset="0"/>
                <a:cs typeface="Times New Roman" panose="02020603050405020304" pitchFamily="18" charset="0"/>
              </a:rPr>
              <a:t>Approves or blocks recruiter accounts</a:t>
            </a:r>
          </a:p>
          <a:p>
            <a:pPr marL="914400" lvl="1" indent="-457200">
              <a:buFont typeface="Arial" panose="020B0604020202020204" pitchFamily="34" charset="0"/>
              <a:buChar char="•"/>
            </a:pPr>
            <a:r>
              <a:rPr lang="en-US" sz="3500" dirty="0">
                <a:latin typeface="Times New Roman" panose="02020603050405020304" pitchFamily="18" charset="0"/>
                <a:cs typeface="Times New Roman" panose="02020603050405020304" pitchFamily="18" charset="0"/>
              </a:rPr>
              <a:t>Manages job categories</a:t>
            </a:r>
          </a:p>
          <a:p>
            <a:pPr marL="914400" lvl="1" indent="-457200">
              <a:buFont typeface="Arial" panose="020B0604020202020204" pitchFamily="34" charset="0"/>
              <a:buChar char="•"/>
            </a:pPr>
            <a:r>
              <a:rPr lang="en-US" sz="3500" dirty="0">
                <a:latin typeface="Times New Roman" panose="02020603050405020304" pitchFamily="18" charset="0"/>
                <a:cs typeface="Times New Roman" panose="02020603050405020304" pitchFamily="18" charset="0"/>
              </a:rPr>
              <a:t>Monitors overall system activities</a:t>
            </a:r>
          </a:p>
        </p:txBody>
      </p:sp>
      <p:sp>
        <p:nvSpPr>
          <p:cNvPr id="22" name="TextBox 21">
            <a:extLst>
              <a:ext uri="{FF2B5EF4-FFF2-40B4-BE49-F238E27FC236}">
                <a16:creationId xmlns:a16="http://schemas.microsoft.com/office/drawing/2014/main" id="{BC32E706-B962-F454-B52C-05F6F8899AF3}"/>
              </a:ext>
            </a:extLst>
          </p:cNvPr>
          <p:cNvSpPr txBox="1"/>
          <p:nvPr/>
        </p:nvSpPr>
        <p:spPr>
          <a:xfrm>
            <a:off x="9906000" y="3848100"/>
            <a:ext cx="9218950" cy="2323713"/>
          </a:xfrm>
          <a:prstGeom prst="rect">
            <a:avLst/>
          </a:prstGeom>
          <a:noFill/>
        </p:spPr>
        <p:txBody>
          <a:bodyPr wrap="square">
            <a:spAutoFit/>
          </a:bodyPr>
          <a:lstStyle/>
          <a:p>
            <a:pPr>
              <a:buNone/>
            </a:pPr>
            <a:r>
              <a:rPr lang="en-US" sz="3500" b="1" dirty="0">
                <a:solidFill>
                  <a:schemeClr val="accent2"/>
                </a:solidFill>
                <a:latin typeface="Times New Roman" panose="02020603050405020304" pitchFamily="18" charset="0"/>
                <a:cs typeface="Times New Roman" panose="02020603050405020304" pitchFamily="18" charset="0"/>
              </a:rPr>
              <a:t>Recruiter</a:t>
            </a:r>
          </a:p>
          <a:p>
            <a:pPr>
              <a:buNone/>
            </a:pPr>
            <a:endParaRPr lang="en-US" sz="500" b="1" dirty="0">
              <a:solidFill>
                <a:schemeClr val="accent2"/>
              </a:solidFill>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en-US" sz="3500" dirty="0">
                <a:latin typeface="Times New Roman" panose="02020603050405020304" pitchFamily="18" charset="0"/>
                <a:cs typeface="Times New Roman" panose="02020603050405020304" pitchFamily="18" charset="0"/>
              </a:rPr>
              <a:t>Creates and manages job postings</a:t>
            </a:r>
          </a:p>
          <a:p>
            <a:pPr marL="914400" lvl="1" indent="-457200">
              <a:buFont typeface="Arial" panose="020B0604020202020204" pitchFamily="34" charset="0"/>
              <a:buChar char="•"/>
            </a:pPr>
            <a:r>
              <a:rPr lang="en-US" sz="3500" dirty="0">
                <a:latin typeface="Times New Roman" panose="02020603050405020304" pitchFamily="18" charset="0"/>
                <a:cs typeface="Times New Roman" panose="02020603050405020304" pitchFamily="18" charset="0"/>
              </a:rPr>
              <a:t>Reviews candidate applications</a:t>
            </a:r>
          </a:p>
          <a:p>
            <a:pPr marL="914400" lvl="1" indent="-457200">
              <a:buFont typeface="Arial" panose="020B0604020202020204" pitchFamily="34" charset="0"/>
              <a:buChar char="•"/>
            </a:pPr>
            <a:r>
              <a:rPr lang="en-US" sz="3500" dirty="0">
                <a:latin typeface="Times New Roman" panose="02020603050405020304" pitchFamily="18" charset="0"/>
                <a:cs typeface="Times New Roman" panose="02020603050405020304" pitchFamily="18" charset="0"/>
              </a:rPr>
              <a:t>Shortlists or rejects applicants</a:t>
            </a:r>
          </a:p>
        </p:txBody>
      </p:sp>
      <p:sp>
        <p:nvSpPr>
          <p:cNvPr id="24" name="TextBox 23">
            <a:extLst>
              <a:ext uri="{FF2B5EF4-FFF2-40B4-BE49-F238E27FC236}">
                <a16:creationId xmlns:a16="http://schemas.microsoft.com/office/drawing/2014/main" id="{F00B4B96-8AAF-A7B5-7B39-55E55215E99D}"/>
              </a:ext>
            </a:extLst>
          </p:cNvPr>
          <p:cNvSpPr txBox="1"/>
          <p:nvPr/>
        </p:nvSpPr>
        <p:spPr>
          <a:xfrm>
            <a:off x="5007965" y="7438099"/>
            <a:ext cx="9526248" cy="2246769"/>
          </a:xfrm>
          <a:prstGeom prst="rect">
            <a:avLst/>
          </a:prstGeom>
          <a:noFill/>
        </p:spPr>
        <p:txBody>
          <a:bodyPr wrap="square">
            <a:spAutoFit/>
          </a:bodyPr>
          <a:lstStyle/>
          <a:p>
            <a:pPr>
              <a:buNone/>
            </a:pPr>
            <a:r>
              <a:rPr lang="en-US" sz="3500" b="1" dirty="0">
                <a:solidFill>
                  <a:schemeClr val="accent2"/>
                </a:solidFill>
                <a:latin typeface="Times New Roman" panose="02020603050405020304" pitchFamily="18" charset="0"/>
                <a:cs typeface="Times New Roman" panose="02020603050405020304" pitchFamily="18" charset="0"/>
              </a:rPr>
              <a:t>Candidate</a:t>
            </a:r>
          </a:p>
          <a:p>
            <a:pPr marL="914400" lvl="1" indent="-457200">
              <a:buFont typeface="Arial" panose="020B0604020202020204" pitchFamily="34" charset="0"/>
              <a:buChar char="•"/>
            </a:pPr>
            <a:r>
              <a:rPr lang="en-US" sz="3500" dirty="0">
                <a:latin typeface="Times New Roman" panose="02020603050405020304" pitchFamily="18" charset="0"/>
                <a:cs typeface="Times New Roman" panose="02020603050405020304" pitchFamily="18" charset="0"/>
              </a:rPr>
              <a:t>Creates and updates professional profile</a:t>
            </a:r>
          </a:p>
          <a:p>
            <a:pPr marL="914400" lvl="1" indent="-457200">
              <a:buFont typeface="Arial" panose="020B0604020202020204" pitchFamily="34" charset="0"/>
              <a:buChar char="•"/>
            </a:pPr>
            <a:r>
              <a:rPr lang="en-US" sz="3500" dirty="0">
                <a:latin typeface="Times New Roman" panose="02020603050405020304" pitchFamily="18" charset="0"/>
                <a:cs typeface="Times New Roman" panose="02020603050405020304" pitchFamily="18" charset="0"/>
              </a:rPr>
              <a:t>Searches and applies for job opportunities</a:t>
            </a:r>
          </a:p>
          <a:p>
            <a:pPr marL="914400" lvl="1" indent="-457200">
              <a:buFont typeface="Arial" panose="020B0604020202020204" pitchFamily="34" charset="0"/>
              <a:buChar char="•"/>
            </a:pPr>
            <a:r>
              <a:rPr lang="en-US" sz="3500" dirty="0">
                <a:latin typeface="Times New Roman" panose="02020603050405020304" pitchFamily="18" charset="0"/>
                <a:cs typeface="Times New Roman" panose="02020603050405020304" pitchFamily="18" charset="0"/>
              </a:rPr>
              <a:t>Tracks application status in real time</a:t>
            </a:r>
          </a:p>
        </p:txBody>
      </p:sp>
    </p:spTree>
    <p:extLst>
      <p:ext uri="{BB962C8B-B14F-4D97-AF65-F5344CB8AC3E}">
        <p14:creationId xmlns:p14="http://schemas.microsoft.com/office/powerpoint/2010/main" val="12551458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a:extLst>
            <a:ext uri="{FF2B5EF4-FFF2-40B4-BE49-F238E27FC236}">
              <a16:creationId xmlns:a16="http://schemas.microsoft.com/office/drawing/2014/main" id="{FB69E36D-F19E-3086-35EC-33D7A3BC064D}"/>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F02A5E1D-C042-8AAE-9744-CEFECC162058}"/>
              </a:ext>
            </a:extLst>
          </p:cNvPr>
          <p:cNvSpPr/>
          <p:nvPr/>
        </p:nvSpPr>
        <p:spPr>
          <a:xfrm>
            <a:off x="0" y="-38100"/>
            <a:ext cx="18288000" cy="2047030"/>
          </a:xfrm>
          <a:prstGeom prst="rect">
            <a:avLst/>
          </a:prstGeom>
          <a:gradFill flip="none" rotWithShape="1">
            <a:gsLst>
              <a:gs pos="0">
                <a:schemeClr val="accent6">
                  <a:shade val="51000"/>
                  <a:satMod val="130000"/>
                </a:schemeClr>
              </a:gs>
              <a:gs pos="80000">
                <a:schemeClr val="accent6">
                  <a:shade val="93000"/>
                  <a:satMod val="130000"/>
                </a:schemeClr>
              </a:gs>
              <a:gs pos="100000">
                <a:schemeClr val="accent6">
                  <a:shade val="94000"/>
                  <a:satMod val="135000"/>
                </a:schemeClr>
              </a:gs>
            </a:gsLst>
            <a:lin ang="2700000" scaled="1"/>
            <a:tileRect/>
          </a:gradFill>
        </p:spPr>
        <p:style>
          <a:lnRef idx="0">
            <a:schemeClr val="accent6"/>
          </a:lnRef>
          <a:fillRef idx="3">
            <a:schemeClr val="accent6"/>
          </a:fillRef>
          <a:effectRef idx="3">
            <a:schemeClr val="accent6"/>
          </a:effectRef>
          <a:fontRef idx="minor">
            <a:schemeClr val="lt1"/>
          </a:fontRef>
        </p:style>
        <p:txBody>
          <a:bodyPr rtlCol="0" anchor="ctr"/>
          <a:lstStyle/>
          <a:p>
            <a:pPr algn="ctr"/>
            <a:endParaRPr lang="en-IN"/>
          </a:p>
        </p:txBody>
      </p:sp>
      <p:sp>
        <p:nvSpPr>
          <p:cNvPr id="6" name="TextBox 6">
            <a:extLst>
              <a:ext uri="{FF2B5EF4-FFF2-40B4-BE49-F238E27FC236}">
                <a16:creationId xmlns:a16="http://schemas.microsoft.com/office/drawing/2014/main" id="{9A166D0F-98C4-5947-A510-42E4440331A2}"/>
              </a:ext>
            </a:extLst>
          </p:cNvPr>
          <p:cNvSpPr txBox="1"/>
          <p:nvPr/>
        </p:nvSpPr>
        <p:spPr>
          <a:xfrm>
            <a:off x="3195803" y="499237"/>
            <a:ext cx="10736412" cy="1094530"/>
          </a:xfrm>
          <a:prstGeom prst="rect">
            <a:avLst/>
          </a:prstGeom>
        </p:spPr>
        <p:txBody>
          <a:bodyPr lIns="0" tIns="0" rIns="0" bIns="0" rtlCol="0" anchor="t">
            <a:spAutoFit/>
          </a:bodyPr>
          <a:lstStyle/>
          <a:p>
            <a:pPr algn="ctr">
              <a:lnSpc>
                <a:spcPts val="8489"/>
              </a:lnSpc>
            </a:pPr>
            <a:r>
              <a:rPr lang="en-IN" sz="7200" dirty="0">
                <a:latin typeface="League Spartan" panose="020B0604020202020204" charset="0"/>
              </a:rPr>
              <a:t>Technology Used</a:t>
            </a:r>
            <a:endParaRPr lang="en-US" sz="7200" dirty="0">
              <a:latin typeface="League Spartan" panose="020B0604020202020204" charset="0"/>
              <a:sym typeface="League Spartan"/>
            </a:endParaRPr>
          </a:p>
        </p:txBody>
      </p:sp>
      <p:sp>
        <p:nvSpPr>
          <p:cNvPr id="5" name="TextBox 4">
            <a:extLst>
              <a:ext uri="{FF2B5EF4-FFF2-40B4-BE49-F238E27FC236}">
                <a16:creationId xmlns:a16="http://schemas.microsoft.com/office/drawing/2014/main" id="{DE88AE82-9049-055F-CAC2-E07F70461C4E}"/>
              </a:ext>
            </a:extLst>
          </p:cNvPr>
          <p:cNvSpPr txBox="1"/>
          <p:nvPr/>
        </p:nvSpPr>
        <p:spPr>
          <a:xfrm>
            <a:off x="1752600" y="3696950"/>
            <a:ext cx="9218950" cy="2893100"/>
          </a:xfrm>
          <a:prstGeom prst="rect">
            <a:avLst/>
          </a:prstGeom>
          <a:noFill/>
        </p:spPr>
        <p:txBody>
          <a:bodyPr wrap="square">
            <a:spAutoFit/>
          </a:bodyPr>
          <a:lstStyle/>
          <a:p>
            <a:pPr>
              <a:buNone/>
            </a:pPr>
            <a:r>
              <a:rPr lang="en-US" sz="3500" b="1" dirty="0">
                <a:solidFill>
                  <a:schemeClr val="accent2"/>
                </a:solidFill>
                <a:latin typeface="Times New Roman" panose="02020603050405020304" pitchFamily="18" charset="0"/>
                <a:cs typeface="Times New Roman" panose="02020603050405020304" pitchFamily="18" charset="0"/>
              </a:rPr>
              <a:t>Backend Technologies</a:t>
            </a:r>
          </a:p>
          <a:p>
            <a:pPr>
              <a:buNone/>
            </a:pPr>
            <a:endParaRPr lang="en-US" sz="700" b="1" dirty="0">
              <a:solidFill>
                <a:schemeClr val="accent2"/>
              </a:solidFill>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en-US" sz="3500" dirty="0">
                <a:latin typeface="Times New Roman" panose="02020603050405020304" pitchFamily="18" charset="0"/>
                <a:cs typeface="Times New Roman" panose="02020603050405020304" pitchFamily="18" charset="0"/>
              </a:rPr>
              <a:t>Java 17</a:t>
            </a:r>
          </a:p>
          <a:p>
            <a:pPr marL="914400" lvl="1" indent="-457200">
              <a:buFont typeface="Arial" panose="020B0604020202020204" pitchFamily="34" charset="0"/>
              <a:buChar char="•"/>
            </a:pPr>
            <a:r>
              <a:rPr lang="en-US" sz="3500" dirty="0">
                <a:latin typeface="Times New Roman" panose="02020603050405020304" pitchFamily="18" charset="0"/>
                <a:cs typeface="Times New Roman" panose="02020603050405020304" pitchFamily="18" charset="0"/>
              </a:rPr>
              <a:t>Spring Boot Framework</a:t>
            </a:r>
          </a:p>
          <a:p>
            <a:pPr marL="914400" lvl="1" indent="-457200">
              <a:buFont typeface="Arial" panose="020B0604020202020204" pitchFamily="34" charset="0"/>
              <a:buChar char="•"/>
            </a:pPr>
            <a:r>
              <a:rPr lang="en-US" sz="3500" dirty="0">
                <a:latin typeface="Times New Roman" panose="02020603050405020304" pitchFamily="18" charset="0"/>
                <a:cs typeface="Times New Roman" panose="02020603050405020304" pitchFamily="18" charset="0"/>
              </a:rPr>
              <a:t>Spring Data JPA (Hibernate)</a:t>
            </a:r>
          </a:p>
          <a:p>
            <a:pPr marL="914400" lvl="1" indent="-457200">
              <a:buFont typeface="Arial" panose="020B0604020202020204" pitchFamily="34" charset="0"/>
              <a:buChar char="•"/>
            </a:pPr>
            <a:r>
              <a:rPr lang="en-US" sz="3500" dirty="0">
                <a:latin typeface="Times New Roman" panose="02020603050405020304" pitchFamily="18" charset="0"/>
                <a:cs typeface="Times New Roman" panose="02020603050405020304" pitchFamily="18" charset="0"/>
              </a:rPr>
              <a:t>JWT-based Authentication</a:t>
            </a:r>
          </a:p>
        </p:txBody>
      </p:sp>
      <p:sp>
        <p:nvSpPr>
          <p:cNvPr id="8" name="TextBox 7">
            <a:extLst>
              <a:ext uri="{FF2B5EF4-FFF2-40B4-BE49-F238E27FC236}">
                <a16:creationId xmlns:a16="http://schemas.microsoft.com/office/drawing/2014/main" id="{5EDF0DC3-6273-E66D-5C68-9F42AF633B74}"/>
              </a:ext>
            </a:extLst>
          </p:cNvPr>
          <p:cNvSpPr txBox="1"/>
          <p:nvPr/>
        </p:nvSpPr>
        <p:spPr>
          <a:xfrm>
            <a:off x="9525000" y="3696950"/>
            <a:ext cx="9218950" cy="2893100"/>
          </a:xfrm>
          <a:prstGeom prst="rect">
            <a:avLst/>
          </a:prstGeom>
          <a:noFill/>
        </p:spPr>
        <p:txBody>
          <a:bodyPr wrap="square">
            <a:spAutoFit/>
          </a:bodyPr>
          <a:lstStyle/>
          <a:p>
            <a:pPr>
              <a:buNone/>
            </a:pPr>
            <a:r>
              <a:rPr lang="en-IN" sz="3500" b="1" dirty="0">
                <a:solidFill>
                  <a:schemeClr val="accent2"/>
                </a:solidFill>
                <a:latin typeface="Times New Roman" panose="02020603050405020304" pitchFamily="18" charset="0"/>
                <a:cs typeface="Times New Roman" panose="02020603050405020304" pitchFamily="18" charset="0"/>
              </a:rPr>
              <a:t>Frontend Technologies</a:t>
            </a:r>
          </a:p>
          <a:p>
            <a:pPr>
              <a:buNone/>
            </a:pPr>
            <a:endParaRPr lang="en-IN" sz="700" b="1" dirty="0">
              <a:solidFill>
                <a:schemeClr val="accent2"/>
              </a:solidFill>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en-IN" sz="3500" dirty="0">
                <a:latin typeface="Times New Roman" panose="02020603050405020304" pitchFamily="18" charset="0"/>
                <a:cs typeface="Times New Roman" panose="02020603050405020304" pitchFamily="18" charset="0"/>
              </a:rPr>
              <a:t>HTML</a:t>
            </a:r>
          </a:p>
          <a:p>
            <a:pPr marL="914400" lvl="1" indent="-457200">
              <a:buFont typeface="Arial" panose="020B0604020202020204" pitchFamily="34" charset="0"/>
              <a:buChar char="•"/>
            </a:pPr>
            <a:r>
              <a:rPr lang="en-IN" sz="3500" dirty="0">
                <a:latin typeface="Times New Roman" panose="02020603050405020304" pitchFamily="18" charset="0"/>
                <a:cs typeface="Times New Roman" panose="02020603050405020304" pitchFamily="18" charset="0"/>
              </a:rPr>
              <a:t>CSS</a:t>
            </a:r>
          </a:p>
          <a:p>
            <a:pPr marL="914400" lvl="1" indent="-457200">
              <a:buFont typeface="Arial" panose="020B0604020202020204" pitchFamily="34" charset="0"/>
              <a:buChar char="•"/>
            </a:pPr>
            <a:r>
              <a:rPr lang="en-IN" sz="3500" dirty="0">
                <a:latin typeface="Times New Roman" panose="02020603050405020304" pitchFamily="18" charset="0"/>
                <a:cs typeface="Times New Roman" panose="02020603050405020304" pitchFamily="18" charset="0"/>
              </a:rPr>
              <a:t>JavaScript</a:t>
            </a:r>
          </a:p>
          <a:p>
            <a:pPr marL="914400" lvl="1" indent="-457200">
              <a:buFont typeface="Arial" panose="020B0604020202020204" pitchFamily="34" charset="0"/>
              <a:buChar char="•"/>
            </a:pPr>
            <a:r>
              <a:rPr lang="en-IN" sz="3500" dirty="0">
                <a:latin typeface="Times New Roman" panose="02020603050405020304" pitchFamily="18" charset="0"/>
                <a:cs typeface="Times New Roman" panose="02020603050405020304" pitchFamily="18" charset="0"/>
              </a:rPr>
              <a:t>Fetch API for REST communication</a:t>
            </a:r>
          </a:p>
        </p:txBody>
      </p:sp>
      <p:sp>
        <p:nvSpPr>
          <p:cNvPr id="10" name="TextBox 9">
            <a:extLst>
              <a:ext uri="{FF2B5EF4-FFF2-40B4-BE49-F238E27FC236}">
                <a16:creationId xmlns:a16="http://schemas.microsoft.com/office/drawing/2014/main" id="{2E8A01C0-B137-D2B6-6857-2D39B2B12AD3}"/>
              </a:ext>
            </a:extLst>
          </p:cNvPr>
          <p:cNvSpPr txBox="1"/>
          <p:nvPr/>
        </p:nvSpPr>
        <p:spPr>
          <a:xfrm>
            <a:off x="6172200" y="7962900"/>
            <a:ext cx="9406328" cy="1277273"/>
          </a:xfrm>
          <a:prstGeom prst="rect">
            <a:avLst/>
          </a:prstGeom>
          <a:noFill/>
        </p:spPr>
        <p:txBody>
          <a:bodyPr wrap="square">
            <a:spAutoFit/>
          </a:bodyPr>
          <a:lstStyle/>
          <a:p>
            <a:pPr>
              <a:buNone/>
            </a:pPr>
            <a:r>
              <a:rPr lang="en-IN" sz="3500" b="1" dirty="0">
                <a:solidFill>
                  <a:schemeClr val="accent2"/>
                </a:solidFill>
                <a:latin typeface="Times New Roman" panose="02020603050405020304" pitchFamily="18" charset="0"/>
                <a:cs typeface="Times New Roman" panose="02020603050405020304" pitchFamily="18" charset="0"/>
              </a:rPr>
              <a:t>Database</a:t>
            </a:r>
          </a:p>
          <a:p>
            <a:pPr>
              <a:buNone/>
            </a:pPr>
            <a:endParaRPr lang="en-IN" sz="700" b="1" dirty="0">
              <a:solidFill>
                <a:schemeClr val="accent2"/>
              </a:solidFill>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en-IN" sz="3500" dirty="0">
                <a:latin typeface="Times New Roman" panose="02020603050405020304" pitchFamily="18" charset="0"/>
                <a:cs typeface="Times New Roman" panose="02020603050405020304" pitchFamily="18" charset="0"/>
              </a:rPr>
              <a:t>MySQL (Relational Database)</a:t>
            </a:r>
          </a:p>
        </p:txBody>
      </p:sp>
    </p:spTree>
    <p:extLst>
      <p:ext uri="{BB962C8B-B14F-4D97-AF65-F5344CB8AC3E}">
        <p14:creationId xmlns:p14="http://schemas.microsoft.com/office/powerpoint/2010/main" val="38110658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a:extLst>
            <a:ext uri="{FF2B5EF4-FFF2-40B4-BE49-F238E27FC236}">
              <a16:creationId xmlns:a16="http://schemas.microsoft.com/office/drawing/2014/main" id="{861A5F29-C7E3-0969-5708-66756D830431}"/>
            </a:ext>
          </a:extLst>
        </p:cNvPr>
        <p:cNvGrpSpPr/>
        <p:nvPr/>
      </p:nvGrpSpPr>
      <p:grpSpPr>
        <a:xfrm>
          <a:off x="0" y="0"/>
          <a:ext cx="0" cy="0"/>
          <a:chOff x="0" y="0"/>
          <a:chExt cx="0" cy="0"/>
        </a:xfrm>
      </p:grpSpPr>
      <p:sp>
        <p:nvSpPr>
          <p:cNvPr id="7" name="Freeform 7">
            <a:extLst>
              <a:ext uri="{FF2B5EF4-FFF2-40B4-BE49-F238E27FC236}">
                <a16:creationId xmlns:a16="http://schemas.microsoft.com/office/drawing/2014/main" id="{8BEB09A8-3766-677F-5D38-30197802E84C}"/>
              </a:ext>
            </a:extLst>
          </p:cNvPr>
          <p:cNvSpPr/>
          <p:nvPr/>
        </p:nvSpPr>
        <p:spPr>
          <a:xfrm>
            <a:off x="15544800" y="-358967"/>
            <a:ext cx="10959214" cy="10959214"/>
          </a:xfrm>
          <a:custGeom>
            <a:avLst/>
            <a:gdLst/>
            <a:ahLst/>
            <a:cxnLst/>
            <a:rect l="l" t="t" r="r" b="b"/>
            <a:pathLst>
              <a:path w="10959214" h="10959214">
                <a:moveTo>
                  <a:pt x="0" y="0"/>
                </a:moveTo>
                <a:lnTo>
                  <a:pt x="10959213" y="0"/>
                </a:lnTo>
                <a:lnTo>
                  <a:pt x="10959213" y="10959214"/>
                </a:lnTo>
                <a:lnTo>
                  <a:pt x="0" y="10959214"/>
                </a:lnTo>
                <a:lnTo>
                  <a:pt x="0" y="0"/>
                </a:lnTo>
                <a:close/>
              </a:path>
            </a:pathLst>
          </a:custGeom>
          <a:blipFill>
            <a:blip r:embed="rId2">
              <a:alphaModFix amt="90000"/>
              <a:extLst>
                <a:ext uri="{96DAC541-7B7A-43D3-8B79-37D633B846F1}">
                  <asvg:svgBlip xmlns:asvg="http://schemas.microsoft.com/office/drawing/2016/SVG/main" r:embed="rId3"/>
                </a:ext>
              </a:extLst>
            </a:blip>
            <a:stretch>
              <a:fillRect/>
            </a:stretch>
          </a:blipFill>
        </p:spPr>
      </p:sp>
      <p:sp>
        <p:nvSpPr>
          <p:cNvPr id="8" name="Freeform 8">
            <a:extLst>
              <a:ext uri="{FF2B5EF4-FFF2-40B4-BE49-F238E27FC236}">
                <a16:creationId xmlns:a16="http://schemas.microsoft.com/office/drawing/2014/main" id="{8BCD86DC-0317-6E07-6753-2E3083171D3E}"/>
              </a:ext>
            </a:extLst>
          </p:cNvPr>
          <p:cNvSpPr/>
          <p:nvPr/>
        </p:nvSpPr>
        <p:spPr>
          <a:xfrm>
            <a:off x="-4798657" y="-358967"/>
            <a:ext cx="6783048" cy="6783048"/>
          </a:xfrm>
          <a:custGeom>
            <a:avLst/>
            <a:gdLst/>
            <a:ahLst/>
            <a:cxnLst/>
            <a:rect l="l" t="t" r="r" b="b"/>
            <a:pathLst>
              <a:path w="6783048" h="6783048">
                <a:moveTo>
                  <a:pt x="0" y="0"/>
                </a:moveTo>
                <a:lnTo>
                  <a:pt x="6783048" y="0"/>
                </a:lnTo>
                <a:lnTo>
                  <a:pt x="6783048" y="6783048"/>
                </a:lnTo>
                <a:lnTo>
                  <a:pt x="0" y="6783048"/>
                </a:lnTo>
                <a:lnTo>
                  <a:pt x="0" y="0"/>
                </a:lnTo>
                <a:close/>
              </a:path>
            </a:pathLst>
          </a:custGeom>
          <a:blipFill>
            <a:blip r:embed="rId4">
              <a:alphaModFix amt="90000"/>
              <a:extLst>
                <a:ext uri="{96DAC541-7B7A-43D3-8B79-37D633B846F1}">
                  <asvg:svgBlip xmlns:asvg="http://schemas.microsoft.com/office/drawing/2016/SVG/main" r:embed="rId5"/>
                </a:ext>
              </a:extLst>
            </a:blip>
            <a:stretch>
              <a:fillRect/>
            </a:stretch>
          </a:blipFill>
        </p:spPr>
      </p:sp>
      <p:sp>
        <p:nvSpPr>
          <p:cNvPr id="9" name="Freeform 9">
            <a:extLst>
              <a:ext uri="{FF2B5EF4-FFF2-40B4-BE49-F238E27FC236}">
                <a16:creationId xmlns:a16="http://schemas.microsoft.com/office/drawing/2014/main" id="{9E544E24-A608-D772-1606-0401AFD8FFF0}"/>
              </a:ext>
            </a:extLst>
          </p:cNvPr>
          <p:cNvSpPr/>
          <p:nvPr/>
        </p:nvSpPr>
        <p:spPr>
          <a:xfrm rot="-5400000">
            <a:off x="15989814" y="859333"/>
            <a:ext cx="2387900" cy="1202633"/>
          </a:xfrm>
          <a:custGeom>
            <a:avLst/>
            <a:gdLst/>
            <a:ahLst/>
            <a:cxnLst/>
            <a:rect l="l" t="t" r="r" b="b"/>
            <a:pathLst>
              <a:path w="2387900" h="1202633">
                <a:moveTo>
                  <a:pt x="0" y="0"/>
                </a:moveTo>
                <a:lnTo>
                  <a:pt x="2387901" y="0"/>
                </a:lnTo>
                <a:lnTo>
                  <a:pt x="2387901" y="1202634"/>
                </a:lnTo>
                <a:lnTo>
                  <a:pt x="0" y="120263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10">
            <a:extLst>
              <a:ext uri="{FF2B5EF4-FFF2-40B4-BE49-F238E27FC236}">
                <a16:creationId xmlns:a16="http://schemas.microsoft.com/office/drawing/2014/main" id="{4C05F103-9CDF-34AF-5F27-80610D68D8B9}"/>
              </a:ext>
            </a:extLst>
          </p:cNvPr>
          <p:cNvSpPr txBox="1"/>
          <p:nvPr/>
        </p:nvSpPr>
        <p:spPr>
          <a:xfrm>
            <a:off x="4191000" y="800100"/>
            <a:ext cx="15499080" cy="1169551"/>
          </a:xfrm>
          <a:prstGeom prst="rect">
            <a:avLst/>
          </a:prstGeom>
          <a:noFill/>
        </p:spPr>
        <p:txBody>
          <a:bodyPr wrap="square">
            <a:spAutoFit/>
          </a:bodyPr>
          <a:lstStyle/>
          <a:p>
            <a:r>
              <a:rPr lang="en-IN" sz="7000" dirty="0">
                <a:latin typeface="League Spartan" panose="020B0604020202020204" charset="0"/>
              </a:rPr>
              <a:t>System Architecture</a:t>
            </a:r>
          </a:p>
        </p:txBody>
      </p:sp>
      <p:sp>
        <p:nvSpPr>
          <p:cNvPr id="19" name="TextBox 18">
            <a:extLst>
              <a:ext uri="{FF2B5EF4-FFF2-40B4-BE49-F238E27FC236}">
                <a16:creationId xmlns:a16="http://schemas.microsoft.com/office/drawing/2014/main" id="{F7B948F7-9B30-DD56-A25E-D054C6C398A5}"/>
              </a:ext>
            </a:extLst>
          </p:cNvPr>
          <p:cNvSpPr txBox="1"/>
          <p:nvPr/>
        </p:nvSpPr>
        <p:spPr>
          <a:xfrm>
            <a:off x="2286001" y="3024937"/>
            <a:ext cx="15499080" cy="600164"/>
          </a:xfrm>
          <a:prstGeom prst="rect">
            <a:avLst/>
          </a:prstGeom>
          <a:noFill/>
        </p:spPr>
        <p:txBody>
          <a:bodyPr wrap="square">
            <a:spAutoFit/>
          </a:bodyPr>
          <a:lstStyle/>
          <a:p>
            <a:r>
              <a:rPr lang="en-US" sz="3300" dirty="0">
                <a:latin typeface="Times New Roman" panose="02020603050405020304" pitchFamily="18" charset="0"/>
                <a:cs typeface="Times New Roman" panose="02020603050405020304" pitchFamily="18" charset="0"/>
              </a:rPr>
              <a:t>The application follows a </a:t>
            </a:r>
            <a:r>
              <a:rPr lang="en-US" sz="3300" b="1" dirty="0">
                <a:latin typeface="Times New Roman" panose="02020603050405020304" pitchFamily="18" charset="0"/>
                <a:cs typeface="Times New Roman" panose="02020603050405020304" pitchFamily="18" charset="0"/>
              </a:rPr>
              <a:t>Layered Client-Server Architecture</a:t>
            </a:r>
            <a:r>
              <a:rPr lang="en-US" sz="3300" dirty="0">
                <a:latin typeface="Times New Roman" panose="02020603050405020304" pitchFamily="18" charset="0"/>
                <a:cs typeface="Times New Roman" panose="02020603050405020304" pitchFamily="18" charset="0"/>
              </a:rPr>
              <a:t>, consisting of:</a:t>
            </a:r>
            <a:endParaRPr lang="en-IN" sz="3300" dirty="0">
              <a:latin typeface="Times New Roman" panose="02020603050405020304" pitchFamily="18" charset="0"/>
              <a:cs typeface="Times New Roman" panose="02020603050405020304" pitchFamily="18" charset="0"/>
            </a:endParaRPr>
          </a:p>
        </p:txBody>
      </p:sp>
      <p:sp>
        <p:nvSpPr>
          <p:cNvPr id="21" name="Rectangle 1">
            <a:extLst>
              <a:ext uri="{FF2B5EF4-FFF2-40B4-BE49-F238E27FC236}">
                <a16:creationId xmlns:a16="http://schemas.microsoft.com/office/drawing/2014/main" id="{A7A15EE5-7F53-3EBA-8F72-219667FB4CDD}"/>
              </a:ext>
            </a:extLst>
          </p:cNvPr>
          <p:cNvSpPr>
            <a:spLocks noChangeArrowheads="1"/>
          </p:cNvSpPr>
          <p:nvPr/>
        </p:nvSpPr>
        <p:spPr bwMode="auto">
          <a:xfrm>
            <a:off x="4343400" y="4266560"/>
            <a:ext cx="9601200" cy="1708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defTabSz="914400" rtl="0" eaLnBrk="0" fontAlgn="base" latinLnBrk="0" hangingPunct="0">
              <a:lnSpc>
                <a:spcPct val="100000"/>
              </a:lnSpc>
              <a:spcBef>
                <a:spcPct val="0"/>
              </a:spcBef>
              <a:spcAft>
                <a:spcPct val="0"/>
              </a:spcAft>
              <a:buClrTx/>
              <a:buSzTx/>
              <a:buFont typeface="+mj-lt"/>
              <a:buAutoNum type="arabicPeriod"/>
              <a:tabLst/>
            </a:pPr>
            <a:r>
              <a:rPr kumimoji="0" lang="en-US" altLang="en-US" sz="3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Client Layer</a:t>
            </a:r>
            <a:r>
              <a:rPr kumimoji="0" lang="en-US" altLang="en-US" sz="3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User Interface (Frontend)</a:t>
            </a:r>
          </a:p>
          <a:p>
            <a:pPr marL="342900" marR="0" lvl="0" indent="-342900" defTabSz="914400" rtl="0" eaLnBrk="0" fontAlgn="base" latinLnBrk="0" hangingPunct="0">
              <a:lnSpc>
                <a:spcPct val="100000"/>
              </a:lnSpc>
              <a:spcBef>
                <a:spcPct val="0"/>
              </a:spcBef>
              <a:spcAft>
                <a:spcPct val="0"/>
              </a:spcAft>
              <a:buClrTx/>
              <a:buSzTx/>
              <a:buFont typeface="+mj-lt"/>
              <a:buAutoNum type="arabicPeriod"/>
              <a:tabLst/>
            </a:pPr>
            <a:r>
              <a:rPr kumimoji="0" lang="en-US" altLang="en-US" sz="3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Server Layer</a:t>
            </a:r>
            <a:r>
              <a:rPr kumimoji="0" lang="en-US" altLang="en-US" sz="3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Business Logic (Backend)</a:t>
            </a:r>
          </a:p>
          <a:p>
            <a:pPr marL="342900" marR="0" lvl="0" indent="-342900" defTabSz="914400" rtl="0" eaLnBrk="0" fontAlgn="base" latinLnBrk="0" hangingPunct="0">
              <a:lnSpc>
                <a:spcPct val="100000"/>
              </a:lnSpc>
              <a:spcBef>
                <a:spcPct val="0"/>
              </a:spcBef>
              <a:spcAft>
                <a:spcPct val="0"/>
              </a:spcAft>
              <a:buClrTx/>
              <a:buSzTx/>
              <a:buFont typeface="+mj-lt"/>
              <a:buAutoNum type="arabicPeriod"/>
              <a:tabLst/>
            </a:pPr>
            <a:r>
              <a:rPr kumimoji="0" lang="en-US" altLang="en-US" sz="3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Data Layer</a:t>
            </a:r>
            <a:r>
              <a:rPr kumimoji="0" lang="en-US" altLang="en-US" sz="3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Database Management</a:t>
            </a:r>
          </a:p>
        </p:txBody>
      </p:sp>
      <p:sp>
        <p:nvSpPr>
          <p:cNvPr id="23" name="TextBox 22">
            <a:extLst>
              <a:ext uri="{FF2B5EF4-FFF2-40B4-BE49-F238E27FC236}">
                <a16:creationId xmlns:a16="http://schemas.microsoft.com/office/drawing/2014/main" id="{B6AE5581-CF24-1B6D-3F5F-A4861E717434}"/>
              </a:ext>
            </a:extLst>
          </p:cNvPr>
          <p:cNvSpPr txBox="1"/>
          <p:nvPr/>
        </p:nvSpPr>
        <p:spPr>
          <a:xfrm>
            <a:off x="2743200" y="6798918"/>
            <a:ext cx="13395960" cy="1015663"/>
          </a:xfrm>
          <a:prstGeom prst="rect">
            <a:avLst/>
          </a:prstGeom>
          <a:noFill/>
        </p:spPr>
        <p:txBody>
          <a:bodyPr wrap="square">
            <a:spAutoFit/>
          </a:bodyPr>
          <a:lstStyle/>
          <a:p>
            <a:r>
              <a:rPr lang="en-US" sz="3000" dirty="0">
                <a:latin typeface="Times New Roman" panose="02020603050405020304" pitchFamily="18" charset="0"/>
                <a:cs typeface="Times New Roman" panose="02020603050405020304" pitchFamily="18" charset="0"/>
              </a:rPr>
              <a:t>Communication between frontend and backend is handled through RESTful APIs using JSON</a:t>
            </a:r>
            <a:r>
              <a:rPr lang="en-US" dirty="0"/>
              <a:t>.</a:t>
            </a:r>
            <a:endParaRPr lang="en-IN" dirty="0"/>
          </a:p>
        </p:txBody>
      </p:sp>
    </p:spTree>
    <p:extLst>
      <p:ext uri="{BB962C8B-B14F-4D97-AF65-F5344CB8AC3E}">
        <p14:creationId xmlns:p14="http://schemas.microsoft.com/office/powerpoint/2010/main" val="14121117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a:extLst>
            <a:ext uri="{FF2B5EF4-FFF2-40B4-BE49-F238E27FC236}">
              <a16:creationId xmlns:a16="http://schemas.microsoft.com/office/drawing/2014/main" id="{517297B4-F2CA-DBB8-9458-2B54094E50CD}"/>
            </a:ext>
          </a:extLst>
        </p:cNvPr>
        <p:cNvGrpSpPr/>
        <p:nvPr/>
      </p:nvGrpSpPr>
      <p:grpSpPr>
        <a:xfrm>
          <a:off x="0" y="0"/>
          <a:ext cx="0" cy="0"/>
          <a:chOff x="0" y="0"/>
          <a:chExt cx="0" cy="0"/>
        </a:xfrm>
      </p:grpSpPr>
      <p:sp>
        <p:nvSpPr>
          <p:cNvPr id="7" name="Freeform 7">
            <a:extLst>
              <a:ext uri="{FF2B5EF4-FFF2-40B4-BE49-F238E27FC236}">
                <a16:creationId xmlns:a16="http://schemas.microsoft.com/office/drawing/2014/main" id="{66A5CD4C-C03A-D2E8-0E76-CA7AD080BA2A}"/>
              </a:ext>
            </a:extLst>
          </p:cNvPr>
          <p:cNvSpPr/>
          <p:nvPr/>
        </p:nvSpPr>
        <p:spPr>
          <a:xfrm>
            <a:off x="15544800" y="-358967"/>
            <a:ext cx="10959214" cy="10959214"/>
          </a:xfrm>
          <a:custGeom>
            <a:avLst/>
            <a:gdLst/>
            <a:ahLst/>
            <a:cxnLst/>
            <a:rect l="l" t="t" r="r" b="b"/>
            <a:pathLst>
              <a:path w="10959214" h="10959214">
                <a:moveTo>
                  <a:pt x="0" y="0"/>
                </a:moveTo>
                <a:lnTo>
                  <a:pt x="10959213" y="0"/>
                </a:lnTo>
                <a:lnTo>
                  <a:pt x="10959213" y="10959214"/>
                </a:lnTo>
                <a:lnTo>
                  <a:pt x="0" y="10959214"/>
                </a:lnTo>
                <a:lnTo>
                  <a:pt x="0" y="0"/>
                </a:lnTo>
                <a:close/>
              </a:path>
            </a:pathLst>
          </a:custGeom>
          <a:blipFill>
            <a:blip r:embed="rId2">
              <a:alphaModFix amt="90000"/>
              <a:extLst>
                <a:ext uri="{96DAC541-7B7A-43D3-8B79-37D633B846F1}">
                  <asvg:svgBlip xmlns:asvg="http://schemas.microsoft.com/office/drawing/2016/SVG/main" r:embed="rId3"/>
                </a:ext>
              </a:extLst>
            </a:blip>
            <a:stretch>
              <a:fillRect/>
            </a:stretch>
          </a:blipFill>
        </p:spPr>
      </p:sp>
      <p:sp>
        <p:nvSpPr>
          <p:cNvPr id="8" name="Freeform 8">
            <a:extLst>
              <a:ext uri="{FF2B5EF4-FFF2-40B4-BE49-F238E27FC236}">
                <a16:creationId xmlns:a16="http://schemas.microsoft.com/office/drawing/2014/main" id="{DCE4CBDD-2BD6-7F2C-48D2-4C73F8C62CE9}"/>
              </a:ext>
            </a:extLst>
          </p:cNvPr>
          <p:cNvSpPr/>
          <p:nvPr/>
        </p:nvSpPr>
        <p:spPr>
          <a:xfrm>
            <a:off x="-4798657" y="-358967"/>
            <a:ext cx="6783048" cy="6783048"/>
          </a:xfrm>
          <a:custGeom>
            <a:avLst/>
            <a:gdLst/>
            <a:ahLst/>
            <a:cxnLst/>
            <a:rect l="l" t="t" r="r" b="b"/>
            <a:pathLst>
              <a:path w="6783048" h="6783048">
                <a:moveTo>
                  <a:pt x="0" y="0"/>
                </a:moveTo>
                <a:lnTo>
                  <a:pt x="6783048" y="0"/>
                </a:lnTo>
                <a:lnTo>
                  <a:pt x="6783048" y="6783048"/>
                </a:lnTo>
                <a:lnTo>
                  <a:pt x="0" y="6783048"/>
                </a:lnTo>
                <a:lnTo>
                  <a:pt x="0" y="0"/>
                </a:lnTo>
                <a:close/>
              </a:path>
            </a:pathLst>
          </a:custGeom>
          <a:blipFill>
            <a:blip r:embed="rId4">
              <a:alphaModFix amt="90000"/>
              <a:extLst>
                <a:ext uri="{96DAC541-7B7A-43D3-8B79-37D633B846F1}">
                  <asvg:svgBlip xmlns:asvg="http://schemas.microsoft.com/office/drawing/2016/SVG/main" r:embed="rId5"/>
                </a:ext>
              </a:extLst>
            </a:blip>
            <a:stretch>
              <a:fillRect/>
            </a:stretch>
          </a:blipFill>
        </p:spPr>
      </p:sp>
      <p:sp>
        <p:nvSpPr>
          <p:cNvPr id="9" name="Freeform 9">
            <a:extLst>
              <a:ext uri="{FF2B5EF4-FFF2-40B4-BE49-F238E27FC236}">
                <a16:creationId xmlns:a16="http://schemas.microsoft.com/office/drawing/2014/main" id="{BDB72D76-C9BB-8E49-A876-D286D6FA4C0F}"/>
              </a:ext>
            </a:extLst>
          </p:cNvPr>
          <p:cNvSpPr/>
          <p:nvPr/>
        </p:nvSpPr>
        <p:spPr>
          <a:xfrm rot="-5400000">
            <a:off x="15989814" y="859333"/>
            <a:ext cx="2387900" cy="1202633"/>
          </a:xfrm>
          <a:custGeom>
            <a:avLst/>
            <a:gdLst/>
            <a:ahLst/>
            <a:cxnLst/>
            <a:rect l="l" t="t" r="r" b="b"/>
            <a:pathLst>
              <a:path w="2387900" h="1202633">
                <a:moveTo>
                  <a:pt x="0" y="0"/>
                </a:moveTo>
                <a:lnTo>
                  <a:pt x="2387901" y="0"/>
                </a:lnTo>
                <a:lnTo>
                  <a:pt x="2387901" y="1202634"/>
                </a:lnTo>
                <a:lnTo>
                  <a:pt x="0" y="120263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10">
            <a:extLst>
              <a:ext uri="{FF2B5EF4-FFF2-40B4-BE49-F238E27FC236}">
                <a16:creationId xmlns:a16="http://schemas.microsoft.com/office/drawing/2014/main" id="{FD1FB16B-A3DE-E845-70D4-AACE619AAEB6}"/>
              </a:ext>
            </a:extLst>
          </p:cNvPr>
          <p:cNvSpPr txBox="1"/>
          <p:nvPr/>
        </p:nvSpPr>
        <p:spPr>
          <a:xfrm>
            <a:off x="976956" y="739554"/>
            <a:ext cx="15499080" cy="1186863"/>
          </a:xfrm>
          <a:prstGeom prst="rect">
            <a:avLst/>
          </a:prstGeom>
          <a:noFill/>
        </p:spPr>
        <p:txBody>
          <a:bodyPr wrap="square">
            <a:spAutoFit/>
          </a:bodyPr>
          <a:lstStyle/>
          <a:p>
            <a:pPr algn="ctr">
              <a:lnSpc>
                <a:spcPts val="8489"/>
              </a:lnSpc>
            </a:pPr>
            <a:r>
              <a:rPr lang="en-US" sz="6600" dirty="0">
                <a:latin typeface="League Spartan" panose="020B0604020202020204" charset="0"/>
              </a:rPr>
              <a:t>Architecture Workflow</a:t>
            </a:r>
          </a:p>
        </p:txBody>
      </p:sp>
      <p:sp>
        <p:nvSpPr>
          <p:cNvPr id="3" name="TextBox 2">
            <a:extLst>
              <a:ext uri="{FF2B5EF4-FFF2-40B4-BE49-F238E27FC236}">
                <a16:creationId xmlns:a16="http://schemas.microsoft.com/office/drawing/2014/main" id="{4E43FF3E-12D1-5007-9B42-BF2D3CA7D3AC}"/>
              </a:ext>
            </a:extLst>
          </p:cNvPr>
          <p:cNvSpPr txBox="1"/>
          <p:nvPr/>
        </p:nvSpPr>
        <p:spPr>
          <a:xfrm>
            <a:off x="5649027" y="3577148"/>
            <a:ext cx="6259711" cy="5693866"/>
          </a:xfrm>
          <a:prstGeom prst="rect">
            <a:avLst/>
          </a:prstGeom>
          <a:noFill/>
        </p:spPr>
        <p:txBody>
          <a:bodyPr wrap="square">
            <a:spAutoFit/>
          </a:bodyPr>
          <a:lstStyle/>
          <a:p>
            <a:pPr algn="ctr">
              <a:buNone/>
            </a:pPr>
            <a:r>
              <a:rPr lang="en-IN" sz="2800" dirty="0">
                <a:latin typeface="Times New Roman" panose="02020603050405020304" pitchFamily="18" charset="0"/>
                <a:cs typeface="Times New Roman" panose="02020603050405020304" pitchFamily="18" charset="0"/>
              </a:rPr>
              <a:t>Browser</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Fetch API Request</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Spring Boot Controller</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Service Layer</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Repository Layer (JPA)</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MySQL Database</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JSON Response to Frontend</a:t>
            </a:r>
          </a:p>
        </p:txBody>
      </p:sp>
      <p:sp>
        <p:nvSpPr>
          <p:cNvPr id="29" name="Flowchart: Process 28">
            <a:extLst>
              <a:ext uri="{FF2B5EF4-FFF2-40B4-BE49-F238E27FC236}">
                <a16:creationId xmlns:a16="http://schemas.microsoft.com/office/drawing/2014/main" id="{B418AEC7-6D6C-697B-1476-C5CC71D65BAE}"/>
              </a:ext>
            </a:extLst>
          </p:cNvPr>
          <p:cNvSpPr/>
          <p:nvPr/>
        </p:nvSpPr>
        <p:spPr>
          <a:xfrm>
            <a:off x="7313616" y="2654600"/>
            <a:ext cx="2897196" cy="609600"/>
          </a:xfrm>
          <a:prstGeom prst="flowChartProcess">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a:p>
        </p:txBody>
      </p:sp>
      <p:sp>
        <p:nvSpPr>
          <p:cNvPr id="28" name="TextBox 27">
            <a:extLst>
              <a:ext uri="{FF2B5EF4-FFF2-40B4-BE49-F238E27FC236}">
                <a16:creationId xmlns:a16="http://schemas.microsoft.com/office/drawing/2014/main" id="{8BAE7346-6AC2-D2AE-31E1-9EF5170A6655}"/>
              </a:ext>
            </a:extLst>
          </p:cNvPr>
          <p:cNvSpPr txBox="1"/>
          <p:nvPr/>
        </p:nvSpPr>
        <p:spPr>
          <a:xfrm>
            <a:off x="7313616" y="2654600"/>
            <a:ext cx="2901959" cy="630942"/>
          </a:xfrm>
          <a:prstGeom prst="rect">
            <a:avLst/>
          </a:prstGeom>
          <a:noFill/>
        </p:spPr>
        <p:txBody>
          <a:bodyPr wrap="square">
            <a:spAutoFit/>
          </a:bodyPr>
          <a:lstStyle/>
          <a:p>
            <a:pPr>
              <a:buNone/>
            </a:pPr>
            <a:r>
              <a:rPr lang="en-IN" sz="3500" b="1" dirty="0">
                <a:latin typeface="Times New Roman" panose="02020603050405020304" pitchFamily="18" charset="0"/>
                <a:cs typeface="Times New Roman" panose="02020603050405020304" pitchFamily="18" charset="0"/>
              </a:rPr>
              <a:t>🔄 Data Flow</a:t>
            </a:r>
          </a:p>
        </p:txBody>
      </p:sp>
    </p:spTree>
    <p:extLst>
      <p:ext uri="{BB962C8B-B14F-4D97-AF65-F5344CB8AC3E}">
        <p14:creationId xmlns:p14="http://schemas.microsoft.com/office/powerpoint/2010/main" val="32942326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a:extLst>
            <a:ext uri="{FF2B5EF4-FFF2-40B4-BE49-F238E27FC236}">
              <a16:creationId xmlns:a16="http://schemas.microsoft.com/office/drawing/2014/main" id="{34B077B6-82A9-4828-D9CA-3A2AFBA46F3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43D5133-454D-9D9C-6EFA-6256732C1C0D}"/>
              </a:ext>
            </a:extLst>
          </p:cNvPr>
          <p:cNvSpPr/>
          <p:nvPr/>
        </p:nvSpPr>
        <p:spPr>
          <a:xfrm rot="7159567">
            <a:off x="13952014" y="-3836383"/>
            <a:ext cx="8175621" cy="8175621"/>
          </a:xfrm>
          <a:custGeom>
            <a:avLst/>
            <a:gdLst/>
            <a:ahLst/>
            <a:cxnLst/>
            <a:rect l="l" t="t" r="r" b="b"/>
            <a:pathLst>
              <a:path w="8175621" h="8175621">
                <a:moveTo>
                  <a:pt x="0" y="0"/>
                </a:moveTo>
                <a:lnTo>
                  <a:pt x="8175621" y="0"/>
                </a:lnTo>
                <a:lnTo>
                  <a:pt x="8175621" y="8175622"/>
                </a:lnTo>
                <a:lnTo>
                  <a:pt x="0" y="8175622"/>
                </a:lnTo>
                <a:lnTo>
                  <a:pt x="0" y="0"/>
                </a:lnTo>
                <a:close/>
              </a:path>
            </a:pathLst>
          </a:custGeom>
          <a:blipFill>
            <a:blip r:embed="rId2">
              <a:alphaModFix amt="87000"/>
              <a:extLst>
                <a:ext uri="{96DAC541-7B7A-43D3-8B79-37D633B846F1}">
                  <asvg:svgBlip xmlns:asvg="http://schemas.microsoft.com/office/drawing/2016/SVG/main" r:embed="rId3"/>
                </a:ext>
              </a:extLst>
            </a:blip>
            <a:stretch>
              <a:fillRect/>
            </a:stretch>
          </a:blipFill>
        </p:spPr>
      </p:sp>
      <p:sp>
        <p:nvSpPr>
          <p:cNvPr id="3" name="Freeform 3">
            <a:extLst>
              <a:ext uri="{FF2B5EF4-FFF2-40B4-BE49-F238E27FC236}">
                <a16:creationId xmlns:a16="http://schemas.microsoft.com/office/drawing/2014/main" id="{D676A137-9F2E-1E39-FF51-3F10765A645C}"/>
              </a:ext>
            </a:extLst>
          </p:cNvPr>
          <p:cNvSpPr/>
          <p:nvPr/>
        </p:nvSpPr>
        <p:spPr>
          <a:xfrm rot="3728645">
            <a:off x="-4150405" y="7470096"/>
            <a:ext cx="6303208" cy="6303208"/>
          </a:xfrm>
          <a:custGeom>
            <a:avLst/>
            <a:gdLst/>
            <a:ahLst/>
            <a:cxnLst/>
            <a:rect l="l" t="t" r="r" b="b"/>
            <a:pathLst>
              <a:path w="6303208" h="6303208">
                <a:moveTo>
                  <a:pt x="0" y="0"/>
                </a:moveTo>
                <a:lnTo>
                  <a:pt x="6303208" y="0"/>
                </a:lnTo>
                <a:lnTo>
                  <a:pt x="6303208" y="6303208"/>
                </a:lnTo>
                <a:lnTo>
                  <a:pt x="0" y="6303208"/>
                </a:lnTo>
                <a:lnTo>
                  <a:pt x="0" y="0"/>
                </a:lnTo>
                <a:close/>
              </a:path>
            </a:pathLst>
          </a:custGeom>
          <a:blipFill>
            <a:blip r:embed="rId4">
              <a:alphaModFix amt="96000"/>
              <a:extLst>
                <a:ext uri="{96DAC541-7B7A-43D3-8B79-37D633B846F1}">
                  <asvg:svgBlip xmlns:asvg="http://schemas.microsoft.com/office/drawing/2016/SVG/main" r:embed="rId5"/>
                </a:ext>
              </a:extLst>
            </a:blip>
            <a:stretch>
              <a:fillRect/>
            </a:stretch>
          </a:blipFill>
        </p:spPr>
      </p:sp>
      <p:sp>
        <p:nvSpPr>
          <p:cNvPr id="4" name="AutoShape 4">
            <a:extLst>
              <a:ext uri="{FF2B5EF4-FFF2-40B4-BE49-F238E27FC236}">
                <a16:creationId xmlns:a16="http://schemas.microsoft.com/office/drawing/2014/main" id="{F0B50EBA-E808-40D1-0EB6-3FEA4B97F6C8}"/>
              </a:ext>
            </a:extLst>
          </p:cNvPr>
          <p:cNvSpPr/>
          <p:nvPr/>
        </p:nvSpPr>
        <p:spPr>
          <a:xfrm rot="5835">
            <a:off x="4970027" y="2102643"/>
            <a:ext cx="8416199" cy="0"/>
          </a:xfrm>
          <a:prstGeom prst="line">
            <a:avLst/>
          </a:prstGeom>
          <a:ln w="28575" cap="rnd">
            <a:solidFill>
              <a:srgbClr val="000000"/>
            </a:solidFill>
            <a:prstDash val="solid"/>
            <a:headEnd type="none" w="sm" len="sm"/>
            <a:tailEnd type="none" w="sm" len="sm"/>
          </a:ln>
        </p:spPr>
      </p:sp>
      <p:sp>
        <p:nvSpPr>
          <p:cNvPr id="5" name="Freeform 5">
            <a:extLst>
              <a:ext uri="{FF2B5EF4-FFF2-40B4-BE49-F238E27FC236}">
                <a16:creationId xmlns:a16="http://schemas.microsoft.com/office/drawing/2014/main" id="{2FA8D574-BBE2-6854-E41A-47D5CABFA7F4}"/>
              </a:ext>
            </a:extLst>
          </p:cNvPr>
          <p:cNvSpPr/>
          <p:nvPr/>
        </p:nvSpPr>
        <p:spPr>
          <a:xfrm>
            <a:off x="16509347" y="3238769"/>
            <a:ext cx="1499906" cy="1746616"/>
          </a:xfrm>
          <a:custGeom>
            <a:avLst/>
            <a:gdLst/>
            <a:ahLst/>
            <a:cxnLst/>
            <a:rect l="l" t="t" r="r" b="b"/>
            <a:pathLst>
              <a:path w="1499906" h="1746616">
                <a:moveTo>
                  <a:pt x="0" y="0"/>
                </a:moveTo>
                <a:lnTo>
                  <a:pt x="1499906" y="0"/>
                </a:lnTo>
                <a:lnTo>
                  <a:pt x="1499906" y="1746616"/>
                </a:lnTo>
                <a:lnTo>
                  <a:pt x="0" y="174661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6" name="Group 6">
            <a:extLst>
              <a:ext uri="{FF2B5EF4-FFF2-40B4-BE49-F238E27FC236}">
                <a16:creationId xmlns:a16="http://schemas.microsoft.com/office/drawing/2014/main" id="{BB53350B-1D21-39AE-387C-EA3AA5EAB293}"/>
              </a:ext>
            </a:extLst>
          </p:cNvPr>
          <p:cNvGrpSpPr/>
          <p:nvPr/>
        </p:nvGrpSpPr>
        <p:grpSpPr>
          <a:xfrm>
            <a:off x="838200" y="8191500"/>
            <a:ext cx="1057504" cy="1057504"/>
            <a:chOff x="0" y="0"/>
            <a:chExt cx="6350000" cy="6350000"/>
          </a:xfrm>
        </p:grpSpPr>
        <p:sp>
          <p:nvSpPr>
            <p:cNvPr id="7" name="Freeform 7">
              <a:extLst>
                <a:ext uri="{FF2B5EF4-FFF2-40B4-BE49-F238E27FC236}">
                  <a16:creationId xmlns:a16="http://schemas.microsoft.com/office/drawing/2014/main" id="{2973D537-1109-5144-F434-2C9BED23A3F3}"/>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sp>
      </p:grpSp>
      <p:sp>
        <p:nvSpPr>
          <p:cNvPr id="8" name="TextBox 8">
            <a:extLst>
              <a:ext uri="{FF2B5EF4-FFF2-40B4-BE49-F238E27FC236}">
                <a16:creationId xmlns:a16="http://schemas.microsoft.com/office/drawing/2014/main" id="{7E0C6371-0A96-690D-D181-76BFB74E93E9}"/>
              </a:ext>
            </a:extLst>
          </p:cNvPr>
          <p:cNvSpPr txBox="1"/>
          <p:nvPr/>
        </p:nvSpPr>
        <p:spPr>
          <a:xfrm>
            <a:off x="5077614" y="937498"/>
            <a:ext cx="8308606" cy="1115690"/>
          </a:xfrm>
          <a:prstGeom prst="rect">
            <a:avLst/>
          </a:prstGeom>
        </p:spPr>
        <p:txBody>
          <a:bodyPr lIns="0" tIns="0" rIns="0" bIns="0" rtlCol="0" anchor="t">
            <a:spAutoFit/>
          </a:bodyPr>
          <a:lstStyle/>
          <a:p>
            <a:pPr algn="ctr">
              <a:lnSpc>
                <a:spcPts val="8721"/>
              </a:lnSpc>
            </a:pPr>
            <a:r>
              <a:rPr lang="en-IN" sz="7200" dirty="0">
                <a:latin typeface="League Spartan" panose="020B0604020202020204" charset="0"/>
              </a:rPr>
              <a:t>Database Design</a:t>
            </a:r>
            <a:endParaRPr lang="en-US" sz="7090" dirty="0">
              <a:solidFill>
                <a:srgbClr val="000000"/>
              </a:solidFill>
              <a:latin typeface="League Spartan" panose="020B0604020202020204" charset="0"/>
              <a:ea typeface="League Spartan"/>
              <a:cs typeface="League Spartan"/>
              <a:sym typeface="League Spartan"/>
            </a:endParaRPr>
          </a:p>
        </p:txBody>
      </p:sp>
      <p:sp>
        <p:nvSpPr>
          <p:cNvPr id="22" name="TextBox 21">
            <a:extLst>
              <a:ext uri="{FF2B5EF4-FFF2-40B4-BE49-F238E27FC236}">
                <a16:creationId xmlns:a16="http://schemas.microsoft.com/office/drawing/2014/main" id="{09AE0D1D-F09B-5A61-6E9B-54B63D73295B}"/>
              </a:ext>
            </a:extLst>
          </p:cNvPr>
          <p:cNvSpPr txBox="1"/>
          <p:nvPr/>
        </p:nvSpPr>
        <p:spPr>
          <a:xfrm>
            <a:off x="4648200" y="2772758"/>
            <a:ext cx="14058900" cy="553998"/>
          </a:xfrm>
          <a:prstGeom prst="rect">
            <a:avLst/>
          </a:prstGeom>
          <a:noFill/>
        </p:spPr>
        <p:txBody>
          <a:bodyPr wrap="square">
            <a:spAutoFit/>
          </a:bodyPr>
          <a:lstStyle/>
          <a:p>
            <a:r>
              <a:rPr lang="en-US" sz="3000" dirty="0">
                <a:latin typeface="Times New Roman" panose="02020603050405020304" pitchFamily="18" charset="0"/>
                <a:cs typeface="Times New Roman" panose="02020603050405020304" pitchFamily="18" charset="0"/>
              </a:rPr>
              <a:t>The system uses a normalized relational database (3NF).</a:t>
            </a:r>
            <a:endParaRPr lang="en-IN" sz="3000" dirty="0">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A6E7682D-1C03-6B75-6DA5-0FE370D7CC8E}"/>
              </a:ext>
            </a:extLst>
          </p:cNvPr>
          <p:cNvSpPr txBox="1"/>
          <p:nvPr/>
        </p:nvSpPr>
        <p:spPr>
          <a:xfrm>
            <a:off x="7696200" y="3625713"/>
            <a:ext cx="3729990" cy="630942"/>
          </a:xfrm>
          <a:prstGeom prst="rect">
            <a:avLst/>
          </a:prstGeom>
          <a:noFill/>
        </p:spPr>
        <p:txBody>
          <a:bodyPr wrap="square">
            <a:spAutoFit/>
          </a:bodyPr>
          <a:lstStyle/>
          <a:p>
            <a:r>
              <a:rPr lang="en-IN" sz="3500" b="1" dirty="0">
                <a:solidFill>
                  <a:schemeClr val="accent2"/>
                </a:solidFill>
                <a:latin typeface="Times New Roman" panose="02020603050405020304" pitchFamily="18" charset="0"/>
                <a:cs typeface="Times New Roman" panose="02020603050405020304" pitchFamily="18" charset="0"/>
              </a:rPr>
              <a:t>Key Entities:</a:t>
            </a:r>
          </a:p>
        </p:txBody>
      </p:sp>
      <p:pic>
        <p:nvPicPr>
          <p:cNvPr id="30" name="Picture 29">
            <a:extLst>
              <a:ext uri="{FF2B5EF4-FFF2-40B4-BE49-F238E27FC236}">
                <a16:creationId xmlns:a16="http://schemas.microsoft.com/office/drawing/2014/main" id="{4341E027-02B0-44EB-3E87-0D69318CA927}"/>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593763" y="5143500"/>
            <a:ext cx="3422319" cy="4460864"/>
          </a:xfrm>
          <a:prstGeom prst="rect">
            <a:avLst/>
          </a:prstGeom>
        </p:spPr>
      </p:pic>
      <p:cxnSp>
        <p:nvCxnSpPr>
          <p:cNvPr id="32" name="Straight Connector 31">
            <a:extLst>
              <a:ext uri="{FF2B5EF4-FFF2-40B4-BE49-F238E27FC236}">
                <a16:creationId xmlns:a16="http://schemas.microsoft.com/office/drawing/2014/main" id="{BD26AE89-742B-6F3B-7E01-FDA12D2C1789}"/>
              </a:ext>
            </a:extLst>
          </p:cNvPr>
          <p:cNvCxnSpPr/>
          <p:nvPr/>
        </p:nvCxnSpPr>
        <p:spPr>
          <a:xfrm>
            <a:off x="7315200" y="5143500"/>
            <a:ext cx="0" cy="4460864"/>
          </a:xfrm>
          <a:prstGeom prst="line">
            <a:avLst/>
          </a:prstGeom>
        </p:spPr>
        <p:style>
          <a:lnRef idx="3">
            <a:schemeClr val="dk1"/>
          </a:lnRef>
          <a:fillRef idx="0">
            <a:schemeClr val="dk1"/>
          </a:fillRef>
          <a:effectRef idx="2">
            <a:schemeClr val="dk1"/>
          </a:effectRef>
          <a:fontRef idx="minor">
            <a:schemeClr val="tx1"/>
          </a:fontRef>
        </p:style>
      </p:cxnSp>
      <p:cxnSp>
        <p:nvCxnSpPr>
          <p:cNvPr id="34" name="Straight Connector 33">
            <a:extLst>
              <a:ext uri="{FF2B5EF4-FFF2-40B4-BE49-F238E27FC236}">
                <a16:creationId xmlns:a16="http://schemas.microsoft.com/office/drawing/2014/main" id="{E136B7A2-9D19-90F3-AA1A-D8C66F3CAD40}"/>
              </a:ext>
            </a:extLst>
          </p:cNvPr>
          <p:cNvCxnSpPr>
            <a:stCxn id="30" idx="3"/>
          </p:cNvCxnSpPr>
          <p:nvPr/>
        </p:nvCxnSpPr>
        <p:spPr>
          <a:xfrm>
            <a:off x="6016082" y="7373932"/>
            <a:ext cx="1296277" cy="0"/>
          </a:xfrm>
          <a:prstGeom prst="line">
            <a:avLst/>
          </a:prstGeom>
        </p:spPr>
        <p:style>
          <a:lnRef idx="3">
            <a:schemeClr val="dk1"/>
          </a:lnRef>
          <a:fillRef idx="0">
            <a:schemeClr val="dk1"/>
          </a:fillRef>
          <a:effectRef idx="2">
            <a:schemeClr val="dk1"/>
          </a:effectRef>
          <a:fontRef idx="minor">
            <a:schemeClr val="tx1"/>
          </a:fontRef>
        </p:style>
      </p:cxnSp>
      <p:cxnSp>
        <p:nvCxnSpPr>
          <p:cNvPr id="36" name="Straight Arrow Connector 35">
            <a:extLst>
              <a:ext uri="{FF2B5EF4-FFF2-40B4-BE49-F238E27FC236}">
                <a16:creationId xmlns:a16="http://schemas.microsoft.com/office/drawing/2014/main" id="{B118FF7E-DEDA-42EB-115C-C966497371B2}"/>
              </a:ext>
            </a:extLst>
          </p:cNvPr>
          <p:cNvCxnSpPr/>
          <p:nvPr/>
        </p:nvCxnSpPr>
        <p:spPr>
          <a:xfrm>
            <a:off x="7315200" y="5143500"/>
            <a:ext cx="91440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37" name="TextBox 36">
            <a:extLst>
              <a:ext uri="{FF2B5EF4-FFF2-40B4-BE49-F238E27FC236}">
                <a16:creationId xmlns:a16="http://schemas.microsoft.com/office/drawing/2014/main" id="{A55EC1CC-7FEE-9937-157F-2E8FFEB5E3D5}"/>
              </a:ext>
            </a:extLst>
          </p:cNvPr>
          <p:cNvSpPr txBox="1"/>
          <p:nvPr/>
        </p:nvSpPr>
        <p:spPr>
          <a:xfrm>
            <a:off x="8261896" y="4866501"/>
            <a:ext cx="2438398" cy="553998"/>
          </a:xfrm>
          <a:prstGeom prst="rect">
            <a:avLst/>
          </a:prstGeom>
          <a:noFill/>
        </p:spPr>
        <p:txBody>
          <a:bodyPr wrap="square" rtlCol="0">
            <a:spAutoFit/>
          </a:bodyPr>
          <a:lstStyle/>
          <a:p>
            <a:r>
              <a:rPr lang="en-US" sz="3000" b="1" dirty="0">
                <a:latin typeface="Times New Roman" panose="02020603050405020304" pitchFamily="18" charset="0"/>
                <a:cs typeface="Times New Roman" panose="02020603050405020304" pitchFamily="18" charset="0"/>
              </a:rPr>
              <a:t>User</a:t>
            </a:r>
            <a:endParaRPr lang="en-IN" sz="3000" b="1" dirty="0">
              <a:latin typeface="Times New Roman" panose="02020603050405020304" pitchFamily="18" charset="0"/>
              <a:cs typeface="Times New Roman" panose="02020603050405020304" pitchFamily="18" charset="0"/>
            </a:endParaRPr>
          </a:p>
        </p:txBody>
      </p:sp>
      <p:cxnSp>
        <p:nvCxnSpPr>
          <p:cNvPr id="38" name="Straight Arrow Connector 37">
            <a:extLst>
              <a:ext uri="{FF2B5EF4-FFF2-40B4-BE49-F238E27FC236}">
                <a16:creationId xmlns:a16="http://schemas.microsoft.com/office/drawing/2014/main" id="{8241B0BC-E763-E665-E033-B2FA28706EC7}"/>
              </a:ext>
            </a:extLst>
          </p:cNvPr>
          <p:cNvCxnSpPr>
            <a:cxnSpLocks/>
          </p:cNvCxnSpPr>
          <p:nvPr/>
        </p:nvCxnSpPr>
        <p:spPr>
          <a:xfrm>
            <a:off x="7347496" y="5905500"/>
            <a:ext cx="255850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41" name="Straight Arrow Connector 40">
            <a:extLst>
              <a:ext uri="{FF2B5EF4-FFF2-40B4-BE49-F238E27FC236}">
                <a16:creationId xmlns:a16="http://schemas.microsoft.com/office/drawing/2014/main" id="{6798D782-A7DB-F4DA-5273-EE2E188095EC}"/>
              </a:ext>
            </a:extLst>
          </p:cNvPr>
          <p:cNvCxnSpPr/>
          <p:nvPr/>
        </p:nvCxnSpPr>
        <p:spPr>
          <a:xfrm>
            <a:off x="7315200" y="9604364"/>
            <a:ext cx="91440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43" name="TextBox 42">
            <a:extLst>
              <a:ext uri="{FF2B5EF4-FFF2-40B4-BE49-F238E27FC236}">
                <a16:creationId xmlns:a16="http://schemas.microsoft.com/office/drawing/2014/main" id="{B12BB483-5308-CD6F-BC4E-379113AD5434}"/>
              </a:ext>
            </a:extLst>
          </p:cNvPr>
          <p:cNvSpPr txBox="1"/>
          <p:nvPr/>
        </p:nvSpPr>
        <p:spPr>
          <a:xfrm>
            <a:off x="9906000" y="5632579"/>
            <a:ext cx="3124200" cy="553998"/>
          </a:xfrm>
          <a:prstGeom prst="rect">
            <a:avLst/>
          </a:prstGeom>
          <a:noFill/>
        </p:spPr>
        <p:txBody>
          <a:bodyPr wrap="square">
            <a:spAutoFit/>
          </a:bodyPr>
          <a:lstStyle/>
          <a:p>
            <a:r>
              <a:rPr lang="en-IN" sz="3000" b="1" dirty="0">
                <a:latin typeface="Times New Roman" panose="02020603050405020304" pitchFamily="18" charset="0"/>
                <a:cs typeface="Times New Roman" panose="02020603050405020304" pitchFamily="18" charset="0"/>
              </a:rPr>
              <a:t>Candidate-Profile</a:t>
            </a:r>
          </a:p>
        </p:txBody>
      </p:sp>
      <p:cxnSp>
        <p:nvCxnSpPr>
          <p:cNvPr id="44" name="Straight Arrow Connector 43">
            <a:extLst>
              <a:ext uri="{FF2B5EF4-FFF2-40B4-BE49-F238E27FC236}">
                <a16:creationId xmlns:a16="http://schemas.microsoft.com/office/drawing/2014/main" id="{F5A57B9E-6228-C2F3-FBBF-A55817642386}"/>
              </a:ext>
            </a:extLst>
          </p:cNvPr>
          <p:cNvCxnSpPr/>
          <p:nvPr/>
        </p:nvCxnSpPr>
        <p:spPr>
          <a:xfrm>
            <a:off x="7315200" y="6667500"/>
            <a:ext cx="91440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46" name="TextBox 45">
            <a:extLst>
              <a:ext uri="{FF2B5EF4-FFF2-40B4-BE49-F238E27FC236}">
                <a16:creationId xmlns:a16="http://schemas.microsoft.com/office/drawing/2014/main" id="{093D6F90-1627-4AFB-0BDD-7AE1B6AD755B}"/>
              </a:ext>
            </a:extLst>
          </p:cNvPr>
          <p:cNvSpPr txBox="1"/>
          <p:nvPr/>
        </p:nvSpPr>
        <p:spPr>
          <a:xfrm>
            <a:off x="8229600" y="6382882"/>
            <a:ext cx="3422319" cy="553998"/>
          </a:xfrm>
          <a:prstGeom prst="rect">
            <a:avLst/>
          </a:prstGeom>
          <a:noFill/>
        </p:spPr>
        <p:txBody>
          <a:bodyPr wrap="square">
            <a:spAutoFit/>
          </a:bodyPr>
          <a:lstStyle/>
          <a:p>
            <a:r>
              <a:rPr lang="en-IN" sz="3000" b="1" dirty="0">
                <a:latin typeface="Times New Roman" panose="02020603050405020304" pitchFamily="18" charset="0"/>
                <a:cs typeface="Times New Roman" panose="02020603050405020304" pitchFamily="18" charset="0"/>
              </a:rPr>
              <a:t>Recruiter-Profile</a:t>
            </a:r>
          </a:p>
        </p:txBody>
      </p:sp>
      <p:cxnSp>
        <p:nvCxnSpPr>
          <p:cNvPr id="47" name="Straight Arrow Connector 46">
            <a:extLst>
              <a:ext uri="{FF2B5EF4-FFF2-40B4-BE49-F238E27FC236}">
                <a16:creationId xmlns:a16="http://schemas.microsoft.com/office/drawing/2014/main" id="{92ECE2BE-0956-91C6-08DD-C48F171E4F8E}"/>
              </a:ext>
            </a:extLst>
          </p:cNvPr>
          <p:cNvCxnSpPr/>
          <p:nvPr/>
        </p:nvCxnSpPr>
        <p:spPr>
          <a:xfrm>
            <a:off x="7299960" y="7810500"/>
            <a:ext cx="91440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49" name="TextBox 48">
            <a:extLst>
              <a:ext uri="{FF2B5EF4-FFF2-40B4-BE49-F238E27FC236}">
                <a16:creationId xmlns:a16="http://schemas.microsoft.com/office/drawing/2014/main" id="{8C138D39-AC91-FC75-C1D2-52E13F2997C3}"/>
              </a:ext>
            </a:extLst>
          </p:cNvPr>
          <p:cNvSpPr txBox="1"/>
          <p:nvPr/>
        </p:nvSpPr>
        <p:spPr>
          <a:xfrm>
            <a:off x="8214360" y="7533985"/>
            <a:ext cx="14432280" cy="553998"/>
          </a:xfrm>
          <a:prstGeom prst="rect">
            <a:avLst/>
          </a:prstGeom>
          <a:noFill/>
        </p:spPr>
        <p:txBody>
          <a:bodyPr wrap="square">
            <a:spAutoFit/>
          </a:bodyPr>
          <a:lstStyle/>
          <a:p>
            <a:r>
              <a:rPr lang="en-IN" sz="3000" b="1" dirty="0">
                <a:latin typeface="Times New Roman" panose="02020603050405020304" pitchFamily="18" charset="0"/>
                <a:cs typeface="Times New Roman" panose="02020603050405020304" pitchFamily="18" charset="0"/>
              </a:rPr>
              <a:t>Job-Category</a:t>
            </a:r>
          </a:p>
        </p:txBody>
      </p:sp>
      <p:cxnSp>
        <p:nvCxnSpPr>
          <p:cNvPr id="50" name="Straight Arrow Connector 49">
            <a:extLst>
              <a:ext uri="{FF2B5EF4-FFF2-40B4-BE49-F238E27FC236}">
                <a16:creationId xmlns:a16="http://schemas.microsoft.com/office/drawing/2014/main" id="{35DBD34C-B7CD-B901-6589-F363DC66E624}"/>
              </a:ext>
            </a:extLst>
          </p:cNvPr>
          <p:cNvCxnSpPr>
            <a:cxnSpLocks/>
          </p:cNvCxnSpPr>
          <p:nvPr/>
        </p:nvCxnSpPr>
        <p:spPr>
          <a:xfrm>
            <a:off x="7299960" y="8727872"/>
            <a:ext cx="2640799"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53" name="TextBox 52">
            <a:extLst>
              <a:ext uri="{FF2B5EF4-FFF2-40B4-BE49-F238E27FC236}">
                <a16:creationId xmlns:a16="http://schemas.microsoft.com/office/drawing/2014/main" id="{5599D39F-BEC2-CBEA-68F1-186092BD1F26}"/>
              </a:ext>
            </a:extLst>
          </p:cNvPr>
          <p:cNvSpPr txBox="1"/>
          <p:nvPr/>
        </p:nvSpPr>
        <p:spPr>
          <a:xfrm>
            <a:off x="8214360" y="9327365"/>
            <a:ext cx="14432280" cy="553998"/>
          </a:xfrm>
          <a:prstGeom prst="rect">
            <a:avLst/>
          </a:prstGeom>
          <a:noFill/>
        </p:spPr>
        <p:txBody>
          <a:bodyPr wrap="square">
            <a:spAutoFit/>
          </a:bodyPr>
          <a:lstStyle/>
          <a:p>
            <a:r>
              <a:rPr lang="en-IN" sz="3000" b="1" dirty="0">
                <a:latin typeface="Times New Roman" panose="02020603050405020304" pitchFamily="18" charset="0"/>
                <a:cs typeface="Times New Roman" panose="02020603050405020304" pitchFamily="18" charset="0"/>
              </a:rPr>
              <a:t>Job-Application</a:t>
            </a:r>
          </a:p>
        </p:txBody>
      </p:sp>
      <p:sp>
        <p:nvSpPr>
          <p:cNvPr id="54" name="TextBox 53">
            <a:extLst>
              <a:ext uri="{FF2B5EF4-FFF2-40B4-BE49-F238E27FC236}">
                <a16:creationId xmlns:a16="http://schemas.microsoft.com/office/drawing/2014/main" id="{5336B490-2523-3451-0CA0-A8C3A83CC6A2}"/>
              </a:ext>
            </a:extLst>
          </p:cNvPr>
          <p:cNvSpPr txBox="1"/>
          <p:nvPr/>
        </p:nvSpPr>
        <p:spPr>
          <a:xfrm>
            <a:off x="9940759" y="8420100"/>
            <a:ext cx="1173845" cy="553998"/>
          </a:xfrm>
          <a:prstGeom prst="rect">
            <a:avLst/>
          </a:prstGeom>
          <a:noFill/>
        </p:spPr>
        <p:txBody>
          <a:bodyPr wrap="square" rtlCol="0">
            <a:spAutoFit/>
          </a:bodyPr>
          <a:lstStyle/>
          <a:p>
            <a:r>
              <a:rPr lang="en-US" sz="3000" b="1" dirty="0">
                <a:latin typeface="Times New Roman" panose="02020603050405020304" pitchFamily="18" charset="0"/>
                <a:cs typeface="Times New Roman" panose="02020603050405020304" pitchFamily="18" charset="0"/>
              </a:rPr>
              <a:t>Job</a:t>
            </a:r>
            <a:endParaRPr lang="en-IN" sz="3000" b="1" dirty="0">
              <a:latin typeface="Times New Roman" panose="02020603050405020304" pitchFamily="18" charset="0"/>
              <a:cs typeface="Times New Roman" panose="02020603050405020304" pitchFamily="18" charset="0"/>
            </a:endParaRPr>
          </a:p>
        </p:txBody>
      </p:sp>
      <p:sp>
        <p:nvSpPr>
          <p:cNvPr id="55" name="TextBox 54">
            <a:extLst>
              <a:ext uri="{FF2B5EF4-FFF2-40B4-BE49-F238E27FC236}">
                <a16:creationId xmlns:a16="http://schemas.microsoft.com/office/drawing/2014/main" id="{333A58A3-1526-F4E0-C173-67E84519A30A}"/>
              </a:ext>
            </a:extLst>
          </p:cNvPr>
          <p:cNvSpPr txBox="1"/>
          <p:nvPr/>
        </p:nvSpPr>
        <p:spPr>
          <a:xfrm>
            <a:off x="4051032" y="9604994"/>
            <a:ext cx="2438398" cy="553998"/>
          </a:xfrm>
          <a:prstGeom prst="rect">
            <a:avLst/>
          </a:prstGeom>
          <a:noFill/>
        </p:spPr>
        <p:txBody>
          <a:bodyPr wrap="square" rtlCol="0">
            <a:spAutoFit/>
          </a:bodyPr>
          <a:lstStyle/>
          <a:p>
            <a:r>
              <a:rPr lang="en-US" sz="3000" b="1" dirty="0">
                <a:latin typeface="Times New Roman" panose="02020603050405020304" pitchFamily="18" charset="0"/>
                <a:cs typeface="Times New Roman" panose="02020603050405020304" pitchFamily="18" charset="0"/>
              </a:rPr>
              <a:t>DB</a:t>
            </a:r>
            <a:endParaRPr lang="en-IN" sz="3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299597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sp>
        <p:nvSpPr>
          <p:cNvPr id="2" name="Freeform 2"/>
          <p:cNvSpPr/>
          <p:nvPr/>
        </p:nvSpPr>
        <p:spPr>
          <a:xfrm rot="7159567">
            <a:off x="13952014" y="-3836383"/>
            <a:ext cx="8175621" cy="8175621"/>
          </a:xfrm>
          <a:custGeom>
            <a:avLst/>
            <a:gdLst/>
            <a:ahLst/>
            <a:cxnLst/>
            <a:rect l="l" t="t" r="r" b="b"/>
            <a:pathLst>
              <a:path w="8175621" h="8175621">
                <a:moveTo>
                  <a:pt x="0" y="0"/>
                </a:moveTo>
                <a:lnTo>
                  <a:pt x="8175621" y="0"/>
                </a:lnTo>
                <a:lnTo>
                  <a:pt x="8175621" y="8175622"/>
                </a:lnTo>
                <a:lnTo>
                  <a:pt x="0" y="8175622"/>
                </a:lnTo>
                <a:lnTo>
                  <a:pt x="0" y="0"/>
                </a:lnTo>
                <a:close/>
              </a:path>
            </a:pathLst>
          </a:custGeom>
          <a:blipFill>
            <a:blip r:embed="rId2">
              <a:alphaModFix amt="87000"/>
              <a:extLst>
                <a:ext uri="{96DAC541-7B7A-43D3-8B79-37D633B846F1}">
                  <asvg:svgBlip xmlns:asvg="http://schemas.microsoft.com/office/drawing/2016/SVG/main" r:embed="rId3"/>
                </a:ext>
              </a:extLst>
            </a:blip>
            <a:stretch>
              <a:fillRect/>
            </a:stretch>
          </a:blipFill>
        </p:spPr>
      </p:sp>
      <p:sp>
        <p:nvSpPr>
          <p:cNvPr id="5" name="Freeform 5"/>
          <p:cNvSpPr/>
          <p:nvPr/>
        </p:nvSpPr>
        <p:spPr>
          <a:xfrm>
            <a:off x="16524678" y="3190236"/>
            <a:ext cx="1499906" cy="1746616"/>
          </a:xfrm>
          <a:custGeom>
            <a:avLst/>
            <a:gdLst/>
            <a:ahLst/>
            <a:cxnLst/>
            <a:rect l="l" t="t" r="r" b="b"/>
            <a:pathLst>
              <a:path w="1499906" h="1746616">
                <a:moveTo>
                  <a:pt x="0" y="0"/>
                </a:moveTo>
                <a:lnTo>
                  <a:pt x="1499906" y="0"/>
                </a:lnTo>
                <a:lnTo>
                  <a:pt x="1499906" y="1746616"/>
                </a:lnTo>
                <a:lnTo>
                  <a:pt x="0" y="174661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TextBox 8"/>
          <p:cNvSpPr txBox="1"/>
          <p:nvPr/>
        </p:nvSpPr>
        <p:spPr>
          <a:xfrm>
            <a:off x="4876800" y="951236"/>
            <a:ext cx="6781800" cy="1115690"/>
          </a:xfrm>
          <a:prstGeom prst="rect">
            <a:avLst/>
          </a:prstGeom>
        </p:spPr>
        <p:txBody>
          <a:bodyPr wrap="square" lIns="0" tIns="0" rIns="0" bIns="0" rtlCol="0" anchor="t">
            <a:spAutoFit/>
          </a:bodyPr>
          <a:lstStyle/>
          <a:p>
            <a:pPr algn="ctr">
              <a:lnSpc>
                <a:spcPts val="8721"/>
              </a:lnSpc>
            </a:pPr>
            <a:r>
              <a:rPr lang="en-IN" sz="7090" dirty="0">
                <a:solidFill>
                  <a:srgbClr val="000000"/>
                </a:solidFill>
                <a:latin typeface="League Spartan"/>
              </a:rPr>
              <a:t>ER </a:t>
            </a:r>
            <a:r>
              <a:rPr lang="en-IN" sz="6000" dirty="0">
                <a:solidFill>
                  <a:srgbClr val="000000"/>
                </a:solidFill>
                <a:latin typeface="League Spartan"/>
              </a:rPr>
              <a:t>Relationships</a:t>
            </a:r>
          </a:p>
        </p:txBody>
      </p:sp>
      <p:sp>
        <p:nvSpPr>
          <p:cNvPr id="10" name="TextBox 9">
            <a:extLst>
              <a:ext uri="{FF2B5EF4-FFF2-40B4-BE49-F238E27FC236}">
                <a16:creationId xmlns:a16="http://schemas.microsoft.com/office/drawing/2014/main" id="{AE651B87-EE44-F7A8-62BA-B72144A57BFC}"/>
              </a:ext>
            </a:extLst>
          </p:cNvPr>
          <p:cNvSpPr txBox="1"/>
          <p:nvPr/>
        </p:nvSpPr>
        <p:spPr>
          <a:xfrm>
            <a:off x="5562600" y="3279889"/>
            <a:ext cx="7673340" cy="3862596"/>
          </a:xfrm>
          <a:prstGeom prst="rect">
            <a:avLst/>
          </a:prstGeom>
          <a:noFill/>
        </p:spPr>
        <p:txBody>
          <a:bodyPr wrap="square">
            <a:spAutoFit/>
          </a:bodyPr>
          <a:lstStyle/>
          <a:p>
            <a:pPr>
              <a:buNone/>
            </a:pPr>
            <a:r>
              <a:rPr lang="en-IN" sz="3500" b="1" dirty="0">
                <a:latin typeface="Times New Roman" panose="02020603050405020304" pitchFamily="18" charset="0"/>
                <a:cs typeface="Times New Roman" panose="02020603050405020304" pitchFamily="18" charset="0"/>
              </a:rPr>
              <a:t>🔗 Entity Relationships</a:t>
            </a:r>
          </a:p>
          <a:p>
            <a:pPr>
              <a:buNone/>
            </a:pPr>
            <a:endParaRPr lang="en-IN" sz="3500" b="1"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IN" sz="3500" dirty="0">
                <a:latin typeface="Times New Roman" panose="02020603050405020304" pitchFamily="18" charset="0"/>
                <a:cs typeface="Times New Roman" panose="02020603050405020304" pitchFamily="18" charset="0"/>
              </a:rPr>
              <a:t>User → Candidate-Profile (1:1)</a:t>
            </a:r>
          </a:p>
          <a:p>
            <a:pPr marL="457200" indent="-457200">
              <a:buFont typeface="Arial" panose="020B0604020202020204" pitchFamily="34" charset="0"/>
              <a:buChar char="•"/>
            </a:pPr>
            <a:r>
              <a:rPr lang="en-IN" sz="3500" dirty="0">
                <a:latin typeface="Times New Roman" panose="02020603050405020304" pitchFamily="18" charset="0"/>
                <a:cs typeface="Times New Roman" panose="02020603050405020304" pitchFamily="18" charset="0"/>
              </a:rPr>
              <a:t>User → Recruiter-Profile (1:1)</a:t>
            </a:r>
          </a:p>
          <a:p>
            <a:pPr marL="457200" indent="-457200">
              <a:buFont typeface="Arial" panose="020B0604020202020204" pitchFamily="34" charset="0"/>
              <a:buChar char="•"/>
            </a:pPr>
            <a:r>
              <a:rPr lang="en-IN" sz="3500" dirty="0">
                <a:latin typeface="Times New Roman" panose="02020603050405020304" pitchFamily="18" charset="0"/>
                <a:cs typeface="Times New Roman" panose="02020603050405020304" pitchFamily="18" charset="0"/>
              </a:rPr>
              <a:t>Recruiter → Job (1:M)</a:t>
            </a:r>
          </a:p>
          <a:p>
            <a:pPr marL="457200" indent="-457200">
              <a:buFont typeface="Arial" panose="020B0604020202020204" pitchFamily="34" charset="0"/>
              <a:buChar char="•"/>
            </a:pPr>
            <a:r>
              <a:rPr lang="en-IN" sz="3500" dirty="0">
                <a:latin typeface="Times New Roman" panose="02020603050405020304" pitchFamily="18" charset="0"/>
                <a:cs typeface="Times New Roman" panose="02020603050405020304" pitchFamily="18" charset="0"/>
              </a:rPr>
              <a:t>Job → Job-Application (1:M)</a:t>
            </a:r>
          </a:p>
          <a:p>
            <a:pPr marL="457200" indent="-457200">
              <a:buFont typeface="Arial" panose="020B0604020202020204" pitchFamily="34" charset="0"/>
              <a:buChar char="•"/>
            </a:pPr>
            <a:r>
              <a:rPr lang="en-IN" sz="3500" dirty="0">
                <a:latin typeface="Times New Roman" panose="02020603050405020304" pitchFamily="18" charset="0"/>
                <a:cs typeface="Times New Roman" panose="02020603050405020304" pitchFamily="18" charset="0"/>
              </a:rPr>
              <a:t>Candidate → Job-Application (1:M)</a:t>
            </a:r>
          </a:p>
        </p:txBody>
      </p:sp>
      <p:sp>
        <p:nvSpPr>
          <p:cNvPr id="11" name="Freeform 2">
            <a:extLst>
              <a:ext uri="{FF2B5EF4-FFF2-40B4-BE49-F238E27FC236}">
                <a16:creationId xmlns:a16="http://schemas.microsoft.com/office/drawing/2014/main" id="{BCF6DFFD-3F29-4AF3-B242-6200A836CF37}"/>
              </a:ext>
            </a:extLst>
          </p:cNvPr>
          <p:cNvSpPr/>
          <p:nvPr/>
        </p:nvSpPr>
        <p:spPr>
          <a:xfrm rot="12088993">
            <a:off x="-2047563" y="7329620"/>
            <a:ext cx="4930112" cy="4734190"/>
          </a:xfrm>
          <a:custGeom>
            <a:avLst/>
            <a:gdLst/>
            <a:ahLst/>
            <a:cxnLst/>
            <a:rect l="l" t="t" r="r" b="b"/>
            <a:pathLst>
              <a:path w="8175621" h="8175621">
                <a:moveTo>
                  <a:pt x="0" y="0"/>
                </a:moveTo>
                <a:lnTo>
                  <a:pt x="8175621" y="0"/>
                </a:lnTo>
                <a:lnTo>
                  <a:pt x="8175621" y="8175622"/>
                </a:lnTo>
                <a:lnTo>
                  <a:pt x="0" y="8175622"/>
                </a:lnTo>
                <a:lnTo>
                  <a:pt x="0" y="0"/>
                </a:lnTo>
                <a:close/>
              </a:path>
            </a:pathLst>
          </a:custGeom>
          <a:blipFill>
            <a:blip r:embed="rId2">
              <a:alphaModFix amt="87000"/>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a:extLst>
            <a:ext uri="{FF2B5EF4-FFF2-40B4-BE49-F238E27FC236}">
              <a16:creationId xmlns:a16="http://schemas.microsoft.com/office/drawing/2014/main" id="{0C875B6C-7F8B-8D66-FEF5-D3802AA23F84}"/>
            </a:ext>
          </a:extLst>
        </p:cNvPr>
        <p:cNvGrpSpPr/>
        <p:nvPr/>
      </p:nvGrpSpPr>
      <p:grpSpPr>
        <a:xfrm>
          <a:off x="0" y="0"/>
          <a:ext cx="0" cy="0"/>
          <a:chOff x="0" y="0"/>
          <a:chExt cx="0" cy="0"/>
        </a:xfrm>
      </p:grpSpPr>
      <p:sp>
        <p:nvSpPr>
          <p:cNvPr id="5" name="Flowchart: Delay 4">
            <a:extLst>
              <a:ext uri="{FF2B5EF4-FFF2-40B4-BE49-F238E27FC236}">
                <a16:creationId xmlns:a16="http://schemas.microsoft.com/office/drawing/2014/main" id="{E02EF21F-9E00-0387-DBB0-CE8826F48856}"/>
              </a:ext>
            </a:extLst>
          </p:cNvPr>
          <p:cNvSpPr/>
          <p:nvPr/>
        </p:nvSpPr>
        <p:spPr>
          <a:xfrm>
            <a:off x="-1" y="464852"/>
            <a:ext cx="6248749" cy="2011650"/>
          </a:xfrm>
          <a:custGeom>
            <a:avLst/>
            <a:gdLst>
              <a:gd name="csX0" fmla="*/ 0 w 8153400"/>
              <a:gd name="csY0" fmla="*/ 0 h 2011649"/>
              <a:gd name="csX1" fmla="*/ 4076700 w 8153400"/>
              <a:gd name="csY1" fmla="*/ 0 h 2011649"/>
              <a:gd name="csX2" fmla="*/ 8153400 w 8153400"/>
              <a:gd name="csY2" fmla="*/ 1005825 h 2011649"/>
              <a:gd name="csX3" fmla="*/ 4076700 w 8153400"/>
              <a:gd name="csY3" fmla="*/ 2011650 h 2011649"/>
              <a:gd name="csX4" fmla="*/ 0 w 8153400"/>
              <a:gd name="csY4" fmla="*/ 2011649 h 2011649"/>
              <a:gd name="csX5" fmla="*/ 0 w 8153400"/>
              <a:gd name="csY5" fmla="*/ 0 h 2011649"/>
              <a:gd name="csX0" fmla="*/ 0 w 6248749"/>
              <a:gd name="csY0" fmla="*/ 0 h 2011650"/>
              <a:gd name="csX1" fmla="*/ 4076700 w 6248749"/>
              <a:gd name="csY1" fmla="*/ 0 h 2011650"/>
              <a:gd name="csX2" fmla="*/ 6248400 w 6248749"/>
              <a:gd name="csY2" fmla="*/ 975345 h 2011650"/>
              <a:gd name="csX3" fmla="*/ 4076700 w 6248749"/>
              <a:gd name="csY3" fmla="*/ 2011650 h 2011650"/>
              <a:gd name="csX4" fmla="*/ 0 w 6248749"/>
              <a:gd name="csY4" fmla="*/ 2011649 h 2011650"/>
              <a:gd name="csX5" fmla="*/ 0 w 6248749"/>
              <a:gd name="csY5" fmla="*/ 0 h 2011650"/>
            </a:gdLst>
            <a:ahLst/>
            <a:cxnLst>
              <a:cxn ang="0">
                <a:pos x="csX0" y="csY0"/>
              </a:cxn>
              <a:cxn ang="0">
                <a:pos x="csX1" y="csY1"/>
              </a:cxn>
              <a:cxn ang="0">
                <a:pos x="csX2" y="csY2"/>
              </a:cxn>
              <a:cxn ang="0">
                <a:pos x="csX3" y="csY3"/>
              </a:cxn>
              <a:cxn ang="0">
                <a:pos x="csX4" y="csY4"/>
              </a:cxn>
              <a:cxn ang="0">
                <a:pos x="csX5" y="csY5"/>
              </a:cxn>
            </a:cxnLst>
            <a:rect l="l" t="t" r="r" b="b"/>
            <a:pathLst>
              <a:path w="6248749" h="2011650">
                <a:moveTo>
                  <a:pt x="0" y="0"/>
                </a:moveTo>
                <a:lnTo>
                  <a:pt x="4076700" y="0"/>
                </a:lnTo>
                <a:cubicBezTo>
                  <a:pt x="6328199" y="0"/>
                  <a:pt x="6248400" y="419843"/>
                  <a:pt x="6248400" y="975345"/>
                </a:cubicBezTo>
                <a:cubicBezTo>
                  <a:pt x="6248400" y="1530847"/>
                  <a:pt x="6328199" y="2011650"/>
                  <a:pt x="4076700" y="2011650"/>
                </a:cubicBezTo>
                <a:lnTo>
                  <a:pt x="0" y="2011649"/>
                </a:lnTo>
                <a:lnTo>
                  <a:pt x="0" y="0"/>
                </a:lnTo>
                <a:close/>
              </a:path>
            </a:pathLst>
          </a:custGeom>
          <a:gradFill flip="none" rotWithShape="1">
            <a:gsLst>
              <a:gs pos="0">
                <a:schemeClr val="accent6">
                  <a:tint val="50000"/>
                  <a:satMod val="300000"/>
                </a:schemeClr>
              </a:gs>
              <a:gs pos="35000">
                <a:schemeClr val="accent6">
                  <a:tint val="37000"/>
                  <a:satMod val="300000"/>
                </a:schemeClr>
              </a:gs>
              <a:gs pos="100000">
                <a:schemeClr val="accent6">
                  <a:tint val="15000"/>
                  <a:satMod val="350000"/>
                </a:schemeClr>
              </a:gs>
            </a:gsLst>
            <a:lin ang="5400000" scaled="1"/>
            <a:tileRect/>
          </a:gra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6" name="TextBox 6">
            <a:extLst>
              <a:ext uri="{FF2B5EF4-FFF2-40B4-BE49-F238E27FC236}">
                <a16:creationId xmlns:a16="http://schemas.microsoft.com/office/drawing/2014/main" id="{8873E026-5E30-42E6-B639-2DF5975ACF06}"/>
              </a:ext>
            </a:extLst>
          </p:cNvPr>
          <p:cNvSpPr txBox="1"/>
          <p:nvPr/>
        </p:nvSpPr>
        <p:spPr>
          <a:xfrm>
            <a:off x="-2243833" y="977092"/>
            <a:ext cx="10736412" cy="1094530"/>
          </a:xfrm>
          <a:prstGeom prst="rect">
            <a:avLst/>
          </a:prstGeom>
        </p:spPr>
        <p:txBody>
          <a:bodyPr lIns="0" tIns="0" rIns="0" bIns="0" rtlCol="0" anchor="t">
            <a:spAutoFit/>
          </a:bodyPr>
          <a:lstStyle/>
          <a:p>
            <a:pPr algn="ctr">
              <a:lnSpc>
                <a:spcPts val="8489"/>
              </a:lnSpc>
            </a:pPr>
            <a:r>
              <a:rPr lang="en-IN" sz="7200" dirty="0">
                <a:latin typeface="League Spartan" panose="020B0604020202020204" charset="0"/>
              </a:rPr>
              <a:t>API Design</a:t>
            </a:r>
            <a:endParaRPr lang="en-US" sz="6901" dirty="0">
              <a:solidFill>
                <a:srgbClr val="000000"/>
              </a:solidFill>
              <a:latin typeface="League Spartan" panose="020B0604020202020204" charset="0"/>
              <a:ea typeface="League Spartan"/>
              <a:cs typeface="League Spartan"/>
              <a:sym typeface="League Spartan"/>
            </a:endParaRPr>
          </a:p>
        </p:txBody>
      </p:sp>
      <p:sp>
        <p:nvSpPr>
          <p:cNvPr id="7" name="Freeform 7">
            <a:extLst>
              <a:ext uri="{FF2B5EF4-FFF2-40B4-BE49-F238E27FC236}">
                <a16:creationId xmlns:a16="http://schemas.microsoft.com/office/drawing/2014/main" id="{975C494E-3F2B-2862-C778-E039591CE8E4}"/>
              </a:ext>
            </a:extLst>
          </p:cNvPr>
          <p:cNvSpPr/>
          <p:nvPr/>
        </p:nvSpPr>
        <p:spPr>
          <a:xfrm>
            <a:off x="11893992" y="-495300"/>
            <a:ext cx="10959214" cy="10959214"/>
          </a:xfrm>
          <a:custGeom>
            <a:avLst/>
            <a:gdLst/>
            <a:ahLst/>
            <a:cxnLst/>
            <a:rect l="l" t="t" r="r" b="b"/>
            <a:pathLst>
              <a:path w="10959214" h="10959214">
                <a:moveTo>
                  <a:pt x="0" y="0"/>
                </a:moveTo>
                <a:lnTo>
                  <a:pt x="10959213" y="0"/>
                </a:lnTo>
                <a:lnTo>
                  <a:pt x="10959213" y="10959214"/>
                </a:lnTo>
                <a:lnTo>
                  <a:pt x="0" y="10959214"/>
                </a:lnTo>
                <a:lnTo>
                  <a:pt x="0" y="0"/>
                </a:lnTo>
                <a:close/>
              </a:path>
            </a:pathLst>
          </a:custGeom>
          <a:blipFill>
            <a:blip r:embed="rId2">
              <a:alphaModFix amt="90000"/>
              <a:extLst>
                <a:ext uri="{96DAC541-7B7A-43D3-8B79-37D633B846F1}">
                  <asvg:svgBlip xmlns:asvg="http://schemas.microsoft.com/office/drawing/2016/SVG/main" r:embed="rId3"/>
                </a:ext>
              </a:extLst>
            </a:blip>
            <a:stretch>
              <a:fillRect/>
            </a:stretch>
          </a:blipFill>
        </p:spPr>
      </p:sp>
      <p:sp>
        <p:nvSpPr>
          <p:cNvPr id="2" name="TextBox 1">
            <a:extLst>
              <a:ext uri="{FF2B5EF4-FFF2-40B4-BE49-F238E27FC236}">
                <a16:creationId xmlns:a16="http://schemas.microsoft.com/office/drawing/2014/main" id="{9E48CB23-093A-1CBA-EF6C-698A0A5079EA}"/>
              </a:ext>
            </a:extLst>
          </p:cNvPr>
          <p:cNvSpPr txBox="1"/>
          <p:nvPr/>
        </p:nvSpPr>
        <p:spPr>
          <a:xfrm>
            <a:off x="2673792" y="3839105"/>
            <a:ext cx="9220200" cy="5478423"/>
          </a:xfrm>
          <a:prstGeom prst="rect">
            <a:avLst/>
          </a:prstGeom>
          <a:noFill/>
        </p:spPr>
        <p:txBody>
          <a:bodyPr wrap="square">
            <a:spAutoFit/>
          </a:bodyPr>
          <a:lstStyle/>
          <a:p>
            <a:pPr>
              <a:buNone/>
            </a:pPr>
            <a:r>
              <a:rPr lang="en-IN" sz="3000" b="1" dirty="0">
                <a:latin typeface="Times New Roman" panose="02020603050405020304" pitchFamily="18" charset="0"/>
                <a:cs typeface="Times New Roman" panose="02020603050405020304" pitchFamily="18" charset="0"/>
              </a:rPr>
              <a:t>🌐 REST API Standards</a:t>
            </a:r>
          </a:p>
          <a:p>
            <a:pPr>
              <a:buNone/>
            </a:pPr>
            <a:endParaRPr lang="en-IN" sz="1000" b="1" dirty="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en-IN" sz="3000" dirty="0">
                <a:latin typeface="Times New Roman" panose="02020603050405020304" pitchFamily="18" charset="0"/>
                <a:cs typeface="Times New Roman" panose="02020603050405020304" pitchFamily="18" charset="0"/>
              </a:rPr>
              <a:t>Base URL: /</a:t>
            </a:r>
            <a:r>
              <a:rPr lang="en-IN" sz="3000" dirty="0" err="1">
                <a:latin typeface="Times New Roman" panose="02020603050405020304" pitchFamily="18" charset="0"/>
                <a:cs typeface="Times New Roman" panose="02020603050405020304" pitchFamily="18" charset="0"/>
              </a:rPr>
              <a:t>api</a:t>
            </a:r>
            <a:r>
              <a:rPr lang="en-IN" sz="3000" dirty="0">
                <a:latin typeface="Times New Roman" panose="02020603050405020304" pitchFamily="18" charset="0"/>
                <a:cs typeface="Times New Roman" panose="02020603050405020304" pitchFamily="18" charset="0"/>
              </a:rPr>
              <a:t>/v1</a:t>
            </a:r>
          </a:p>
          <a:p>
            <a:pPr marL="914400" lvl="1" indent="-457200">
              <a:buFont typeface="Arial" panose="020B0604020202020204" pitchFamily="34" charset="0"/>
              <a:buChar char="•"/>
            </a:pPr>
            <a:r>
              <a:rPr lang="en-IN" sz="3000" dirty="0">
                <a:latin typeface="Times New Roman" panose="02020603050405020304" pitchFamily="18" charset="0"/>
                <a:cs typeface="Times New Roman" panose="02020603050405020304" pitchFamily="18" charset="0"/>
              </a:rPr>
              <a:t>JSON Format</a:t>
            </a:r>
          </a:p>
          <a:p>
            <a:pPr marL="914400" lvl="1" indent="-457200">
              <a:buFont typeface="Arial" panose="020B0604020202020204" pitchFamily="34" charset="0"/>
              <a:buChar char="•"/>
            </a:pPr>
            <a:r>
              <a:rPr lang="en-IN" sz="3000" dirty="0">
                <a:latin typeface="Times New Roman" panose="02020603050405020304" pitchFamily="18" charset="0"/>
                <a:cs typeface="Times New Roman" panose="02020603050405020304" pitchFamily="18" charset="0"/>
              </a:rPr>
              <a:t>HTTP Methods: GET, POST, PUT, DELETE</a:t>
            </a:r>
          </a:p>
          <a:p>
            <a:pPr marL="914400" lvl="1" indent="-457200">
              <a:buFont typeface="Arial" panose="020B0604020202020204" pitchFamily="34" charset="0"/>
              <a:buChar char="•"/>
            </a:pPr>
            <a:r>
              <a:rPr lang="en-IN" sz="3000" dirty="0">
                <a:latin typeface="Times New Roman" panose="02020603050405020304" pitchFamily="18" charset="0"/>
                <a:cs typeface="Times New Roman" panose="02020603050405020304" pitchFamily="18" charset="0"/>
              </a:rPr>
              <a:t>JWT Bearer Authentication</a:t>
            </a:r>
          </a:p>
          <a:p>
            <a:endParaRPr lang="en-IN" sz="3000" dirty="0">
              <a:latin typeface="Times New Roman" panose="02020603050405020304" pitchFamily="18" charset="0"/>
              <a:cs typeface="Times New Roman" panose="02020603050405020304" pitchFamily="18" charset="0"/>
            </a:endParaRPr>
          </a:p>
          <a:p>
            <a:r>
              <a:rPr lang="en-IN" sz="3000" b="1" dirty="0">
                <a:latin typeface="Times New Roman" panose="02020603050405020304" pitchFamily="18" charset="0"/>
                <a:cs typeface="Times New Roman" panose="02020603050405020304" pitchFamily="18" charset="0"/>
              </a:rPr>
              <a:t>Example APIs:</a:t>
            </a:r>
          </a:p>
          <a:p>
            <a:endParaRPr lang="en-IN" sz="1000" b="1" dirty="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en-IN" sz="3000" dirty="0">
                <a:latin typeface="Times New Roman" panose="02020603050405020304" pitchFamily="18" charset="0"/>
                <a:cs typeface="Times New Roman" panose="02020603050405020304" pitchFamily="18" charset="0"/>
              </a:rPr>
              <a:t>/auth/register</a:t>
            </a:r>
          </a:p>
          <a:p>
            <a:pPr marL="914400" lvl="1" indent="-457200">
              <a:buFont typeface="Arial" panose="020B0604020202020204" pitchFamily="34" charset="0"/>
              <a:buChar char="•"/>
            </a:pPr>
            <a:r>
              <a:rPr lang="en-IN" sz="3000" dirty="0">
                <a:latin typeface="Times New Roman" panose="02020603050405020304" pitchFamily="18" charset="0"/>
                <a:cs typeface="Times New Roman" panose="02020603050405020304" pitchFamily="18" charset="0"/>
              </a:rPr>
              <a:t>/auth/login</a:t>
            </a:r>
          </a:p>
          <a:p>
            <a:pPr marL="914400" lvl="1" indent="-457200">
              <a:buFont typeface="Arial" panose="020B0604020202020204" pitchFamily="34" charset="0"/>
              <a:buChar char="•"/>
            </a:pPr>
            <a:r>
              <a:rPr lang="en-IN" sz="3000" dirty="0">
                <a:latin typeface="Times New Roman" panose="02020603050405020304" pitchFamily="18" charset="0"/>
                <a:cs typeface="Times New Roman" panose="02020603050405020304" pitchFamily="18" charset="0"/>
              </a:rPr>
              <a:t>/recruiter/jobs</a:t>
            </a:r>
          </a:p>
          <a:p>
            <a:pPr marL="914400" lvl="1" indent="-457200">
              <a:buFont typeface="Arial" panose="020B0604020202020204" pitchFamily="34" charset="0"/>
              <a:buChar char="•"/>
            </a:pPr>
            <a:r>
              <a:rPr lang="en-IN" sz="3000" dirty="0">
                <a:latin typeface="Times New Roman" panose="02020603050405020304" pitchFamily="18" charset="0"/>
                <a:cs typeface="Times New Roman" panose="02020603050405020304" pitchFamily="18" charset="0"/>
              </a:rPr>
              <a:t>/candidate/jobs</a:t>
            </a:r>
          </a:p>
        </p:txBody>
      </p:sp>
    </p:spTree>
    <p:extLst>
      <p:ext uri="{BB962C8B-B14F-4D97-AF65-F5344CB8AC3E}">
        <p14:creationId xmlns:p14="http://schemas.microsoft.com/office/powerpoint/2010/main" val="14564975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a:extLst>
            <a:ext uri="{FF2B5EF4-FFF2-40B4-BE49-F238E27FC236}">
              <a16:creationId xmlns:a16="http://schemas.microsoft.com/office/drawing/2014/main" id="{54C83A96-B13C-33BC-834D-0202795806C1}"/>
            </a:ext>
          </a:extLst>
        </p:cNvPr>
        <p:cNvGrpSpPr/>
        <p:nvPr/>
      </p:nvGrpSpPr>
      <p:grpSpPr>
        <a:xfrm>
          <a:off x="0" y="0"/>
          <a:ext cx="0" cy="0"/>
          <a:chOff x="0" y="0"/>
          <a:chExt cx="0" cy="0"/>
        </a:xfrm>
      </p:grpSpPr>
      <p:sp>
        <p:nvSpPr>
          <p:cNvPr id="5" name="Flowchart: Delay 4">
            <a:extLst>
              <a:ext uri="{FF2B5EF4-FFF2-40B4-BE49-F238E27FC236}">
                <a16:creationId xmlns:a16="http://schemas.microsoft.com/office/drawing/2014/main" id="{1A661D81-3963-4ABF-CBAC-6EFDC7E9AA32}"/>
              </a:ext>
            </a:extLst>
          </p:cNvPr>
          <p:cNvSpPr/>
          <p:nvPr/>
        </p:nvSpPr>
        <p:spPr>
          <a:xfrm>
            <a:off x="-1" y="464852"/>
            <a:ext cx="10431613" cy="2011650"/>
          </a:xfrm>
          <a:custGeom>
            <a:avLst/>
            <a:gdLst>
              <a:gd name="csX0" fmla="*/ 0 w 8153400"/>
              <a:gd name="csY0" fmla="*/ 0 h 2011649"/>
              <a:gd name="csX1" fmla="*/ 4076700 w 8153400"/>
              <a:gd name="csY1" fmla="*/ 0 h 2011649"/>
              <a:gd name="csX2" fmla="*/ 8153400 w 8153400"/>
              <a:gd name="csY2" fmla="*/ 1005825 h 2011649"/>
              <a:gd name="csX3" fmla="*/ 4076700 w 8153400"/>
              <a:gd name="csY3" fmla="*/ 2011650 h 2011649"/>
              <a:gd name="csX4" fmla="*/ 0 w 8153400"/>
              <a:gd name="csY4" fmla="*/ 2011649 h 2011649"/>
              <a:gd name="csX5" fmla="*/ 0 w 8153400"/>
              <a:gd name="csY5" fmla="*/ 0 h 2011649"/>
              <a:gd name="csX0" fmla="*/ 0 w 6248749"/>
              <a:gd name="csY0" fmla="*/ 0 h 2011650"/>
              <a:gd name="csX1" fmla="*/ 4076700 w 6248749"/>
              <a:gd name="csY1" fmla="*/ 0 h 2011650"/>
              <a:gd name="csX2" fmla="*/ 6248400 w 6248749"/>
              <a:gd name="csY2" fmla="*/ 975345 h 2011650"/>
              <a:gd name="csX3" fmla="*/ 4076700 w 6248749"/>
              <a:gd name="csY3" fmla="*/ 2011650 h 2011650"/>
              <a:gd name="csX4" fmla="*/ 0 w 6248749"/>
              <a:gd name="csY4" fmla="*/ 2011649 h 2011650"/>
              <a:gd name="csX5" fmla="*/ 0 w 6248749"/>
              <a:gd name="csY5" fmla="*/ 0 h 2011650"/>
            </a:gdLst>
            <a:ahLst/>
            <a:cxnLst>
              <a:cxn ang="0">
                <a:pos x="csX0" y="csY0"/>
              </a:cxn>
              <a:cxn ang="0">
                <a:pos x="csX1" y="csY1"/>
              </a:cxn>
              <a:cxn ang="0">
                <a:pos x="csX2" y="csY2"/>
              </a:cxn>
              <a:cxn ang="0">
                <a:pos x="csX3" y="csY3"/>
              </a:cxn>
              <a:cxn ang="0">
                <a:pos x="csX4" y="csY4"/>
              </a:cxn>
              <a:cxn ang="0">
                <a:pos x="csX5" y="csY5"/>
              </a:cxn>
            </a:cxnLst>
            <a:rect l="l" t="t" r="r" b="b"/>
            <a:pathLst>
              <a:path w="6248749" h="2011650">
                <a:moveTo>
                  <a:pt x="0" y="0"/>
                </a:moveTo>
                <a:lnTo>
                  <a:pt x="4076700" y="0"/>
                </a:lnTo>
                <a:cubicBezTo>
                  <a:pt x="6328199" y="0"/>
                  <a:pt x="6248400" y="419843"/>
                  <a:pt x="6248400" y="975345"/>
                </a:cubicBezTo>
                <a:cubicBezTo>
                  <a:pt x="6248400" y="1530847"/>
                  <a:pt x="6328199" y="2011650"/>
                  <a:pt x="4076700" y="2011650"/>
                </a:cubicBezTo>
                <a:lnTo>
                  <a:pt x="0" y="2011649"/>
                </a:lnTo>
                <a:lnTo>
                  <a:pt x="0" y="0"/>
                </a:lnTo>
                <a:close/>
              </a:path>
            </a:pathLst>
          </a:custGeom>
          <a:gradFill flip="none" rotWithShape="1">
            <a:gsLst>
              <a:gs pos="0">
                <a:schemeClr val="accent6">
                  <a:tint val="50000"/>
                  <a:satMod val="300000"/>
                </a:schemeClr>
              </a:gs>
              <a:gs pos="35000">
                <a:schemeClr val="accent6">
                  <a:tint val="37000"/>
                  <a:satMod val="300000"/>
                </a:schemeClr>
              </a:gs>
              <a:gs pos="100000">
                <a:schemeClr val="accent6">
                  <a:tint val="15000"/>
                  <a:satMod val="350000"/>
                </a:schemeClr>
              </a:gs>
            </a:gsLst>
            <a:lin ang="5400000" scaled="1"/>
            <a:tileRect/>
          </a:gra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6" name="TextBox 6">
            <a:extLst>
              <a:ext uri="{FF2B5EF4-FFF2-40B4-BE49-F238E27FC236}">
                <a16:creationId xmlns:a16="http://schemas.microsoft.com/office/drawing/2014/main" id="{27D3FC0F-A822-6746-15EC-7821743E2083}"/>
              </a:ext>
            </a:extLst>
          </p:cNvPr>
          <p:cNvSpPr txBox="1"/>
          <p:nvPr/>
        </p:nvSpPr>
        <p:spPr>
          <a:xfrm>
            <a:off x="-304800" y="923412"/>
            <a:ext cx="10736412" cy="1094530"/>
          </a:xfrm>
          <a:prstGeom prst="rect">
            <a:avLst/>
          </a:prstGeom>
        </p:spPr>
        <p:txBody>
          <a:bodyPr lIns="0" tIns="0" rIns="0" bIns="0" rtlCol="0" anchor="t">
            <a:spAutoFit/>
          </a:bodyPr>
          <a:lstStyle/>
          <a:p>
            <a:pPr algn="ctr">
              <a:lnSpc>
                <a:spcPts val="8489"/>
              </a:lnSpc>
            </a:pPr>
            <a:r>
              <a:rPr lang="en-IN" sz="7200" b="1" dirty="0">
                <a:latin typeface="Times New Roman" panose="02020603050405020304" pitchFamily="18" charset="0"/>
                <a:cs typeface="Times New Roman" panose="02020603050405020304" pitchFamily="18" charset="0"/>
              </a:rPr>
              <a:t>Security Implementation</a:t>
            </a:r>
            <a:endParaRPr lang="en-US" sz="6901" b="1" dirty="0">
              <a:solidFill>
                <a:srgbClr val="000000"/>
              </a:solidFill>
              <a:latin typeface="Times New Roman" panose="02020603050405020304" pitchFamily="18" charset="0"/>
              <a:ea typeface="League Spartan"/>
              <a:cs typeface="Times New Roman" panose="02020603050405020304" pitchFamily="18" charset="0"/>
              <a:sym typeface="League Spartan"/>
            </a:endParaRPr>
          </a:p>
        </p:txBody>
      </p:sp>
      <p:sp>
        <p:nvSpPr>
          <p:cNvPr id="7" name="Freeform 7">
            <a:extLst>
              <a:ext uri="{FF2B5EF4-FFF2-40B4-BE49-F238E27FC236}">
                <a16:creationId xmlns:a16="http://schemas.microsoft.com/office/drawing/2014/main" id="{ED67119B-6E94-79FD-FA61-19CAA86DACAE}"/>
              </a:ext>
            </a:extLst>
          </p:cNvPr>
          <p:cNvSpPr/>
          <p:nvPr/>
        </p:nvSpPr>
        <p:spPr>
          <a:xfrm>
            <a:off x="11893992" y="-495300"/>
            <a:ext cx="10959214" cy="10959214"/>
          </a:xfrm>
          <a:custGeom>
            <a:avLst/>
            <a:gdLst/>
            <a:ahLst/>
            <a:cxnLst/>
            <a:rect l="l" t="t" r="r" b="b"/>
            <a:pathLst>
              <a:path w="10959214" h="10959214">
                <a:moveTo>
                  <a:pt x="0" y="0"/>
                </a:moveTo>
                <a:lnTo>
                  <a:pt x="10959213" y="0"/>
                </a:lnTo>
                <a:lnTo>
                  <a:pt x="10959213" y="10959214"/>
                </a:lnTo>
                <a:lnTo>
                  <a:pt x="0" y="10959214"/>
                </a:lnTo>
                <a:lnTo>
                  <a:pt x="0" y="0"/>
                </a:lnTo>
                <a:close/>
              </a:path>
            </a:pathLst>
          </a:custGeom>
          <a:blipFill>
            <a:blip r:embed="rId2">
              <a:alphaModFix amt="90000"/>
              <a:extLst>
                <a:ext uri="{96DAC541-7B7A-43D3-8B79-37D633B846F1}">
                  <asvg:svgBlip xmlns:asvg="http://schemas.microsoft.com/office/drawing/2016/SVG/main" r:embed="rId3"/>
                </a:ext>
              </a:extLst>
            </a:blip>
            <a:stretch>
              <a:fillRect/>
            </a:stretch>
          </a:blipFill>
        </p:spPr>
      </p:sp>
      <p:sp>
        <p:nvSpPr>
          <p:cNvPr id="4" name="TextBox 3">
            <a:extLst>
              <a:ext uri="{FF2B5EF4-FFF2-40B4-BE49-F238E27FC236}">
                <a16:creationId xmlns:a16="http://schemas.microsoft.com/office/drawing/2014/main" id="{41760AB6-6179-E531-8813-371A3FA3F248}"/>
              </a:ext>
            </a:extLst>
          </p:cNvPr>
          <p:cNvSpPr txBox="1"/>
          <p:nvPr/>
        </p:nvSpPr>
        <p:spPr>
          <a:xfrm>
            <a:off x="2362200" y="3771900"/>
            <a:ext cx="11605260" cy="4472122"/>
          </a:xfrm>
          <a:prstGeom prst="rect">
            <a:avLst/>
          </a:prstGeom>
          <a:noFill/>
        </p:spPr>
        <p:txBody>
          <a:bodyPr wrap="square">
            <a:spAutoFit/>
          </a:bodyPr>
          <a:lstStyle/>
          <a:p>
            <a:pPr>
              <a:buNone/>
            </a:pPr>
            <a:r>
              <a:rPr lang="en-US" sz="3500" b="1" dirty="0">
                <a:latin typeface="Times New Roman" panose="02020603050405020304" pitchFamily="18" charset="0"/>
                <a:cs typeface="Times New Roman" panose="02020603050405020304" pitchFamily="18" charset="0"/>
              </a:rPr>
              <a:t>🔒 Security Features</a:t>
            </a:r>
          </a:p>
          <a:p>
            <a:pPr marL="457200" indent="-457200">
              <a:buFont typeface="Arial" panose="020B0604020202020204" pitchFamily="34" charset="0"/>
              <a:buChar char="•"/>
            </a:pPr>
            <a:endParaRPr lang="en-US" sz="3000" b="1" dirty="0">
              <a:latin typeface="Times New Roman" panose="02020603050405020304" pitchFamily="18" charset="0"/>
              <a:cs typeface="Times New Roman" panose="02020603050405020304" pitchFamily="18" charset="0"/>
            </a:endParaRPr>
          </a:p>
          <a:p>
            <a:pPr marL="457200" indent="-457200">
              <a:lnSpc>
                <a:spcPct val="150000"/>
              </a:lnSpc>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Encrypted Password Storage</a:t>
            </a:r>
          </a:p>
          <a:p>
            <a:pPr marL="457200" indent="-457200">
              <a:lnSpc>
                <a:spcPct val="150000"/>
              </a:lnSpc>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JWT Token Authentication</a:t>
            </a:r>
          </a:p>
          <a:p>
            <a:pPr marL="457200" indent="-457200">
              <a:lnSpc>
                <a:spcPct val="150000"/>
              </a:lnSpc>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Stateless Backend</a:t>
            </a:r>
          </a:p>
          <a:p>
            <a:pPr marL="457200" indent="-457200">
              <a:lnSpc>
                <a:spcPct val="150000"/>
              </a:lnSpc>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Role-Based Access Control</a:t>
            </a:r>
          </a:p>
          <a:p>
            <a:pPr marL="457200" indent="-457200">
              <a:lnSpc>
                <a:spcPct val="150000"/>
              </a:lnSpc>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Secured REST Endpoints</a:t>
            </a:r>
          </a:p>
        </p:txBody>
      </p:sp>
    </p:spTree>
    <p:extLst>
      <p:ext uri="{BB962C8B-B14F-4D97-AF65-F5344CB8AC3E}">
        <p14:creationId xmlns:p14="http://schemas.microsoft.com/office/powerpoint/2010/main" val="37333383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sp>
        <p:nvSpPr>
          <p:cNvPr id="2" name="Freeform 2"/>
          <p:cNvSpPr/>
          <p:nvPr/>
        </p:nvSpPr>
        <p:spPr>
          <a:xfrm rot="8100000">
            <a:off x="4561182" y="2788742"/>
            <a:ext cx="4709517" cy="4709517"/>
          </a:xfrm>
          <a:custGeom>
            <a:avLst/>
            <a:gdLst/>
            <a:ahLst/>
            <a:cxnLst/>
            <a:rect l="l" t="t" r="r" b="b"/>
            <a:pathLst>
              <a:path w="4709517" h="4709517">
                <a:moveTo>
                  <a:pt x="0" y="0"/>
                </a:moveTo>
                <a:lnTo>
                  <a:pt x="4709517" y="0"/>
                </a:lnTo>
                <a:lnTo>
                  <a:pt x="4709517" y="4709516"/>
                </a:lnTo>
                <a:lnTo>
                  <a:pt x="0" y="470951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028700" y="2788742"/>
            <a:ext cx="4709517" cy="4709517"/>
          </a:xfrm>
          <a:custGeom>
            <a:avLst/>
            <a:gdLst/>
            <a:ahLst/>
            <a:cxnLst/>
            <a:rect l="l" t="t" r="r" b="b"/>
            <a:pathLst>
              <a:path w="4709517" h="4709517">
                <a:moveTo>
                  <a:pt x="0" y="0"/>
                </a:moveTo>
                <a:lnTo>
                  <a:pt x="4709517" y="0"/>
                </a:lnTo>
                <a:lnTo>
                  <a:pt x="4709517" y="4709516"/>
                </a:lnTo>
                <a:lnTo>
                  <a:pt x="0" y="470951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4" name="Group 4"/>
          <p:cNvGrpSpPr/>
          <p:nvPr/>
        </p:nvGrpSpPr>
        <p:grpSpPr>
          <a:xfrm>
            <a:off x="0" y="9223584"/>
            <a:ext cx="18288000" cy="1063415"/>
            <a:chOff x="0" y="0"/>
            <a:chExt cx="6186311" cy="1913890"/>
          </a:xfrm>
        </p:grpSpPr>
        <p:sp>
          <p:nvSpPr>
            <p:cNvPr id="5" name="Freeform 5"/>
            <p:cNvSpPr/>
            <p:nvPr/>
          </p:nvSpPr>
          <p:spPr>
            <a:xfrm>
              <a:off x="0" y="0"/>
              <a:ext cx="6186311" cy="1913890"/>
            </a:xfrm>
            <a:custGeom>
              <a:avLst/>
              <a:gdLst/>
              <a:ahLst/>
              <a:cxnLst/>
              <a:rect l="l" t="t" r="r" b="b"/>
              <a:pathLst>
                <a:path w="6186311" h="1913890">
                  <a:moveTo>
                    <a:pt x="0" y="0"/>
                  </a:moveTo>
                  <a:lnTo>
                    <a:pt x="6186311" y="0"/>
                  </a:lnTo>
                  <a:lnTo>
                    <a:pt x="6186311" y="1913890"/>
                  </a:lnTo>
                  <a:lnTo>
                    <a:pt x="0" y="1913890"/>
                  </a:lnTo>
                  <a:close/>
                </a:path>
              </a:pathLst>
            </a:custGeom>
            <a:solidFill>
              <a:srgbClr val="000000"/>
            </a:solidFill>
          </p:spPr>
        </p:sp>
      </p:grpSp>
      <p:sp>
        <p:nvSpPr>
          <p:cNvPr id="6" name="TextBox 6"/>
          <p:cNvSpPr txBox="1"/>
          <p:nvPr/>
        </p:nvSpPr>
        <p:spPr>
          <a:xfrm>
            <a:off x="10246071" y="381708"/>
            <a:ext cx="7363548" cy="2462213"/>
          </a:xfrm>
          <a:prstGeom prst="rect">
            <a:avLst/>
          </a:prstGeom>
        </p:spPr>
        <p:txBody>
          <a:bodyPr lIns="0" tIns="0" rIns="0" bIns="0" rtlCol="0" anchor="t">
            <a:spAutoFit/>
          </a:bodyPr>
          <a:lstStyle/>
          <a:p>
            <a:pPr>
              <a:buNone/>
            </a:pPr>
            <a:r>
              <a:rPr lang="en-US" sz="8000" b="1" dirty="0">
                <a:latin typeface="Times New Roman" panose="02020603050405020304" pitchFamily="18" charset="0"/>
                <a:cs typeface="Times New Roman" panose="02020603050405020304" pitchFamily="18" charset="0"/>
              </a:rPr>
              <a:t>Future Enhancements</a:t>
            </a:r>
          </a:p>
        </p:txBody>
      </p:sp>
      <p:sp>
        <p:nvSpPr>
          <p:cNvPr id="10" name="AutoShape 10"/>
          <p:cNvSpPr/>
          <p:nvPr/>
        </p:nvSpPr>
        <p:spPr>
          <a:xfrm rot="5207">
            <a:off x="10246088" y="2926556"/>
            <a:ext cx="9432820" cy="0"/>
          </a:xfrm>
          <a:prstGeom prst="line">
            <a:avLst/>
          </a:prstGeom>
          <a:ln w="28575" cap="rnd">
            <a:solidFill>
              <a:srgbClr val="000000"/>
            </a:solidFill>
            <a:prstDash val="solid"/>
            <a:headEnd type="none" w="sm" len="sm"/>
            <a:tailEnd type="none" w="sm" len="sm"/>
          </a:ln>
        </p:spPr>
      </p:sp>
      <p:sp>
        <p:nvSpPr>
          <p:cNvPr id="14" name="Freeform 14"/>
          <p:cNvSpPr/>
          <p:nvPr/>
        </p:nvSpPr>
        <p:spPr>
          <a:xfrm rot="5400000">
            <a:off x="1152055" y="1915434"/>
            <a:ext cx="1499906" cy="1746616"/>
          </a:xfrm>
          <a:custGeom>
            <a:avLst/>
            <a:gdLst/>
            <a:ahLst/>
            <a:cxnLst/>
            <a:rect l="l" t="t" r="r" b="b"/>
            <a:pathLst>
              <a:path w="1499906" h="1746616">
                <a:moveTo>
                  <a:pt x="0" y="0"/>
                </a:moveTo>
                <a:lnTo>
                  <a:pt x="1499906" y="0"/>
                </a:lnTo>
                <a:lnTo>
                  <a:pt x="1499906" y="1746615"/>
                </a:lnTo>
                <a:lnTo>
                  <a:pt x="0" y="174661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5" name="AutoShape 15"/>
          <p:cNvSpPr/>
          <p:nvPr/>
        </p:nvSpPr>
        <p:spPr>
          <a:xfrm rot="-1799999">
            <a:off x="4609275" y="7242177"/>
            <a:ext cx="4019073" cy="0"/>
          </a:xfrm>
          <a:prstGeom prst="line">
            <a:avLst/>
          </a:prstGeom>
          <a:ln w="28575" cap="rnd">
            <a:solidFill>
              <a:srgbClr val="000000"/>
            </a:solidFill>
            <a:prstDash val="solid"/>
            <a:headEnd type="none" w="sm" len="sm"/>
            <a:tailEnd type="none" w="sm" len="sm"/>
          </a:ln>
        </p:spPr>
      </p:sp>
      <p:sp>
        <p:nvSpPr>
          <p:cNvPr id="17" name="TextBox 16">
            <a:extLst>
              <a:ext uri="{FF2B5EF4-FFF2-40B4-BE49-F238E27FC236}">
                <a16:creationId xmlns:a16="http://schemas.microsoft.com/office/drawing/2014/main" id="{A386C529-A158-178E-A3BF-F44F72D9A596}"/>
              </a:ext>
            </a:extLst>
          </p:cNvPr>
          <p:cNvSpPr txBox="1"/>
          <p:nvPr/>
        </p:nvSpPr>
        <p:spPr>
          <a:xfrm>
            <a:off x="10018348" y="4089261"/>
            <a:ext cx="9888300" cy="3447098"/>
          </a:xfrm>
          <a:prstGeom prst="rect">
            <a:avLst/>
          </a:prstGeom>
          <a:noFill/>
        </p:spPr>
        <p:txBody>
          <a:bodyPr wrap="square">
            <a:spAutoFit/>
          </a:bodyPr>
          <a:lstStyle/>
          <a:p>
            <a:pPr>
              <a:buNone/>
            </a:pPr>
            <a:r>
              <a:rPr lang="en-US" sz="3500" b="1" dirty="0">
                <a:latin typeface="Times New Roman" panose="02020603050405020304" pitchFamily="18" charset="0"/>
                <a:cs typeface="Times New Roman" panose="02020603050405020304" pitchFamily="18" charset="0"/>
              </a:rPr>
              <a:t>Potential improvements include:</a:t>
            </a:r>
          </a:p>
          <a:p>
            <a:pPr>
              <a:buNone/>
            </a:pPr>
            <a:endParaRPr lang="en-US" sz="800" dirty="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en-US" sz="3500" dirty="0">
                <a:latin typeface="Times New Roman" panose="02020603050405020304" pitchFamily="18" charset="0"/>
                <a:cs typeface="Times New Roman" panose="02020603050405020304" pitchFamily="18" charset="0"/>
              </a:rPr>
              <a:t>Resume file upload and storage</a:t>
            </a:r>
          </a:p>
          <a:p>
            <a:pPr marL="914400" lvl="1" indent="-457200">
              <a:buFont typeface="Arial" panose="020B0604020202020204" pitchFamily="34" charset="0"/>
              <a:buChar char="•"/>
            </a:pPr>
            <a:r>
              <a:rPr lang="en-US" sz="3500" dirty="0">
                <a:latin typeface="Times New Roman" panose="02020603050405020304" pitchFamily="18" charset="0"/>
                <a:cs typeface="Times New Roman" panose="02020603050405020304" pitchFamily="18" charset="0"/>
              </a:rPr>
              <a:t>Email notification system</a:t>
            </a:r>
          </a:p>
          <a:p>
            <a:pPr marL="914400" lvl="1" indent="-457200">
              <a:buFont typeface="Arial" panose="020B0604020202020204" pitchFamily="34" charset="0"/>
              <a:buChar char="•"/>
            </a:pPr>
            <a:r>
              <a:rPr lang="en-US" sz="3500" dirty="0">
                <a:latin typeface="Times New Roman" panose="02020603050405020304" pitchFamily="18" charset="0"/>
                <a:cs typeface="Times New Roman" panose="02020603050405020304" pitchFamily="18" charset="0"/>
              </a:rPr>
              <a:t>Interview scheduling module</a:t>
            </a:r>
          </a:p>
          <a:p>
            <a:pPr marL="914400" lvl="1" indent="-457200">
              <a:buFont typeface="Arial" panose="020B0604020202020204" pitchFamily="34" charset="0"/>
              <a:buChar char="•"/>
            </a:pPr>
            <a:r>
              <a:rPr lang="en-US" sz="3500" dirty="0">
                <a:latin typeface="Times New Roman" panose="02020603050405020304" pitchFamily="18" charset="0"/>
                <a:cs typeface="Times New Roman" panose="02020603050405020304" pitchFamily="18" charset="0"/>
              </a:rPr>
              <a:t>Analytics and reporting dashboard</a:t>
            </a:r>
          </a:p>
          <a:p>
            <a:pPr marL="914400" lvl="1" indent="-457200">
              <a:buFont typeface="Arial" panose="020B0604020202020204" pitchFamily="34" charset="0"/>
              <a:buChar char="•"/>
            </a:pPr>
            <a:r>
              <a:rPr lang="en-US" sz="3500" dirty="0">
                <a:latin typeface="Times New Roman" panose="02020603050405020304" pitchFamily="18" charset="0"/>
                <a:cs typeface="Times New Roman" panose="02020603050405020304" pitchFamily="18" charset="0"/>
              </a:rPr>
              <a:t>Notification and alert system</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a:extLst>
            <a:ext uri="{FF2B5EF4-FFF2-40B4-BE49-F238E27FC236}">
              <a16:creationId xmlns:a16="http://schemas.microsoft.com/office/drawing/2014/main" id="{05B36DF7-E799-B77A-857E-54A3B566157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42E4C05-3869-14EA-AD86-159FE46D3FBB}"/>
              </a:ext>
            </a:extLst>
          </p:cNvPr>
          <p:cNvSpPr/>
          <p:nvPr/>
        </p:nvSpPr>
        <p:spPr>
          <a:xfrm rot="7159567">
            <a:off x="13952014" y="-3836383"/>
            <a:ext cx="8175621" cy="8175621"/>
          </a:xfrm>
          <a:custGeom>
            <a:avLst/>
            <a:gdLst/>
            <a:ahLst/>
            <a:cxnLst/>
            <a:rect l="l" t="t" r="r" b="b"/>
            <a:pathLst>
              <a:path w="8175621" h="8175621">
                <a:moveTo>
                  <a:pt x="0" y="0"/>
                </a:moveTo>
                <a:lnTo>
                  <a:pt x="8175621" y="0"/>
                </a:lnTo>
                <a:lnTo>
                  <a:pt x="8175621" y="8175622"/>
                </a:lnTo>
                <a:lnTo>
                  <a:pt x="0" y="8175622"/>
                </a:lnTo>
                <a:lnTo>
                  <a:pt x="0" y="0"/>
                </a:lnTo>
                <a:close/>
              </a:path>
            </a:pathLst>
          </a:custGeom>
          <a:blipFill>
            <a:blip r:embed="rId2">
              <a:alphaModFix amt="87000"/>
              <a:extLst>
                <a:ext uri="{96DAC541-7B7A-43D3-8B79-37D633B846F1}">
                  <asvg:svgBlip xmlns:asvg="http://schemas.microsoft.com/office/drawing/2016/SVG/main" r:embed="rId3"/>
                </a:ext>
              </a:extLst>
            </a:blip>
            <a:stretch>
              <a:fillRect/>
            </a:stretch>
          </a:blipFill>
        </p:spPr>
      </p:sp>
      <p:sp>
        <p:nvSpPr>
          <p:cNvPr id="3" name="Freeform 3">
            <a:extLst>
              <a:ext uri="{FF2B5EF4-FFF2-40B4-BE49-F238E27FC236}">
                <a16:creationId xmlns:a16="http://schemas.microsoft.com/office/drawing/2014/main" id="{5C3F09EA-201A-B581-90DF-7F12698BED34}"/>
              </a:ext>
            </a:extLst>
          </p:cNvPr>
          <p:cNvSpPr/>
          <p:nvPr/>
        </p:nvSpPr>
        <p:spPr>
          <a:xfrm rot="3728645">
            <a:off x="-3845605" y="8058242"/>
            <a:ext cx="6303208" cy="6303208"/>
          </a:xfrm>
          <a:custGeom>
            <a:avLst/>
            <a:gdLst/>
            <a:ahLst/>
            <a:cxnLst/>
            <a:rect l="l" t="t" r="r" b="b"/>
            <a:pathLst>
              <a:path w="6303208" h="6303208">
                <a:moveTo>
                  <a:pt x="0" y="0"/>
                </a:moveTo>
                <a:lnTo>
                  <a:pt x="6303208" y="0"/>
                </a:lnTo>
                <a:lnTo>
                  <a:pt x="6303208" y="6303208"/>
                </a:lnTo>
                <a:lnTo>
                  <a:pt x="0" y="6303208"/>
                </a:lnTo>
                <a:lnTo>
                  <a:pt x="0" y="0"/>
                </a:lnTo>
                <a:close/>
              </a:path>
            </a:pathLst>
          </a:custGeom>
          <a:blipFill>
            <a:blip r:embed="rId4">
              <a:alphaModFix amt="96000"/>
              <a:extLst>
                <a:ext uri="{96DAC541-7B7A-43D3-8B79-37D633B846F1}">
                  <asvg:svgBlip xmlns:asvg="http://schemas.microsoft.com/office/drawing/2016/SVG/main" r:embed="rId5"/>
                </a:ext>
              </a:extLst>
            </a:blip>
            <a:stretch>
              <a:fillRect/>
            </a:stretch>
          </a:blipFill>
        </p:spPr>
      </p:sp>
      <p:sp>
        <p:nvSpPr>
          <p:cNvPr id="4" name="AutoShape 4">
            <a:extLst>
              <a:ext uri="{FF2B5EF4-FFF2-40B4-BE49-F238E27FC236}">
                <a16:creationId xmlns:a16="http://schemas.microsoft.com/office/drawing/2014/main" id="{B5D59A48-A238-DB53-381B-FBE9FA883E4E}"/>
              </a:ext>
            </a:extLst>
          </p:cNvPr>
          <p:cNvSpPr/>
          <p:nvPr/>
        </p:nvSpPr>
        <p:spPr>
          <a:xfrm rot="5835">
            <a:off x="5040863" y="3084740"/>
            <a:ext cx="8416199" cy="0"/>
          </a:xfrm>
          <a:prstGeom prst="line">
            <a:avLst/>
          </a:prstGeom>
          <a:ln w="28575" cap="rnd">
            <a:solidFill>
              <a:srgbClr val="000000"/>
            </a:solidFill>
            <a:prstDash val="solid"/>
            <a:headEnd type="none" w="sm" len="sm"/>
            <a:tailEnd type="none" w="sm" len="sm"/>
          </a:ln>
        </p:spPr>
      </p:sp>
      <p:sp>
        <p:nvSpPr>
          <p:cNvPr id="5" name="Freeform 5">
            <a:extLst>
              <a:ext uri="{FF2B5EF4-FFF2-40B4-BE49-F238E27FC236}">
                <a16:creationId xmlns:a16="http://schemas.microsoft.com/office/drawing/2014/main" id="{D27230E1-4856-CC9C-67BF-33F713620B33}"/>
              </a:ext>
            </a:extLst>
          </p:cNvPr>
          <p:cNvSpPr/>
          <p:nvPr/>
        </p:nvSpPr>
        <p:spPr>
          <a:xfrm>
            <a:off x="16383000" y="419100"/>
            <a:ext cx="1499906" cy="1746616"/>
          </a:xfrm>
          <a:custGeom>
            <a:avLst/>
            <a:gdLst/>
            <a:ahLst/>
            <a:cxnLst/>
            <a:rect l="l" t="t" r="r" b="b"/>
            <a:pathLst>
              <a:path w="1499906" h="1746616">
                <a:moveTo>
                  <a:pt x="0" y="0"/>
                </a:moveTo>
                <a:lnTo>
                  <a:pt x="1499906" y="0"/>
                </a:lnTo>
                <a:lnTo>
                  <a:pt x="1499906" y="1746616"/>
                </a:lnTo>
                <a:lnTo>
                  <a:pt x="0" y="174661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6" name="Group 6">
            <a:extLst>
              <a:ext uri="{FF2B5EF4-FFF2-40B4-BE49-F238E27FC236}">
                <a16:creationId xmlns:a16="http://schemas.microsoft.com/office/drawing/2014/main" id="{5D6EFA31-371D-BBF9-4DA0-DBD771ED99B6}"/>
              </a:ext>
            </a:extLst>
          </p:cNvPr>
          <p:cNvGrpSpPr/>
          <p:nvPr/>
        </p:nvGrpSpPr>
        <p:grpSpPr>
          <a:xfrm>
            <a:off x="838200" y="8343900"/>
            <a:ext cx="1057504" cy="1057504"/>
            <a:chOff x="0" y="0"/>
            <a:chExt cx="6350000" cy="6350000"/>
          </a:xfrm>
        </p:grpSpPr>
        <p:sp>
          <p:nvSpPr>
            <p:cNvPr id="7" name="Freeform 7">
              <a:extLst>
                <a:ext uri="{FF2B5EF4-FFF2-40B4-BE49-F238E27FC236}">
                  <a16:creationId xmlns:a16="http://schemas.microsoft.com/office/drawing/2014/main" id="{B907D904-CBB6-10B4-A6E2-F6813492B409}"/>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sp>
      </p:grpSp>
      <p:sp>
        <p:nvSpPr>
          <p:cNvPr id="8" name="TextBox 8">
            <a:extLst>
              <a:ext uri="{FF2B5EF4-FFF2-40B4-BE49-F238E27FC236}">
                <a16:creationId xmlns:a16="http://schemas.microsoft.com/office/drawing/2014/main" id="{0A87ABE7-638C-466E-CA29-1D74035315BA}"/>
              </a:ext>
            </a:extLst>
          </p:cNvPr>
          <p:cNvSpPr txBox="1"/>
          <p:nvPr/>
        </p:nvSpPr>
        <p:spPr>
          <a:xfrm>
            <a:off x="5148450" y="1777746"/>
            <a:ext cx="8308606" cy="1115690"/>
          </a:xfrm>
          <a:prstGeom prst="rect">
            <a:avLst/>
          </a:prstGeom>
        </p:spPr>
        <p:txBody>
          <a:bodyPr lIns="0" tIns="0" rIns="0" bIns="0" rtlCol="0" anchor="t">
            <a:spAutoFit/>
          </a:bodyPr>
          <a:lstStyle/>
          <a:p>
            <a:pPr algn="ctr">
              <a:lnSpc>
                <a:spcPts val="8721"/>
              </a:lnSpc>
            </a:pPr>
            <a:r>
              <a:rPr lang="en-US" sz="7090" dirty="0">
                <a:solidFill>
                  <a:srgbClr val="000000"/>
                </a:solidFill>
                <a:latin typeface="League Spartan"/>
                <a:ea typeface="League Spartan"/>
                <a:cs typeface="League Spartan"/>
                <a:sym typeface="League Spartan"/>
              </a:rPr>
              <a:t>Conclusion</a:t>
            </a:r>
          </a:p>
        </p:txBody>
      </p:sp>
      <p:sp>
        <p:nvSpPr>
          <p:cNvPr id="22" name="TextBox 21">
            <a:extLst>
              <a:ext uri="{FF2B5EF4-FFF2-40B4-BE49-F238E27FC236}">
                <a16:creationId xmlns:a16="http://schemas.microsoft.com/office/drawing/2014/main" id="{C3F7759B-A3CE-F8CD-52C7-3335B560FEAF}"/>
              </a:ext>
            </a:extLst>
          </p:cNvPr>
          <p:cNvSpPr txBox="1"/>
          <p:nvPr/>
        </p:nvSpPr>
        <p:spPr>
          <a:xfrm>
            <a:off x="2162813" y="4615807"/>
            <a:ext cx="14279880" cy="2785378"/>
          </a:xfrm>
          <a:prstGeom prst="rect">
            <a:avLst/>
          </a:prstGeom>
          <a:noFill/>
        </p:spPr>
        <p:txBody>
          <a:bodyPr wrap="square">
            <a:spAutoFit/>
          </a:bodyPr>
          <a:lstStyle/>
          <a:p>
            <a:pPr algn="just"/>
            <a:r>
              <a:rPr lang="en-US" sz="3500" dirty="0">
                <a:latin typeface="Times New Roman" panose="02020603050405020304" pitchFamily="18" charset="0"/>
                <a:cs typeface="Times New Roman" panose="02020603050405020304" pitchFamily="18" charset="0"/>
              </a:rPr>
              <a:t>The Job Portal &amp; Applicant Tracking System (ATS) automates the complete recruitment process, from job posting to application tracking. It is built using a secure and scalable architecture with industry-standard design principles. The project demonstrates the practical implementation of Spring Boot and REST APIs, providing a strong foundation for a real-world recruitment platform.</a:t>
            </a:r>
            <a:endParaRPr lang="en-IN" sz="3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763461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sp>
        <p:nvSpPr>
          <p:cNvPr id="2" name="Freeform 2"/>
          <p:cNvSpPr/>
          <p:nvPr/>
        </p:nvSpPr>
        <p:spPr>
          <a:xfrm rot="8100000">
            <a:off x="13497880" y="2230873"/>
            <a:ext cx="5804607" cy="5804607"/>
          </a:xfrm>
          <a:custGeom>
            <a:avLst/>
            <a:gdLst/>
            <a:ahLst/>
            <a:cxnLst/>
            <a:rect l="l" t="t" r="r" b="b"/>
            <a:pathLst>
              <a:path w="5804607" h="5804607">
                <a:moveTo>
                  <a:pt x="0" y="0"/>
                </a:moveTo>
                <a:lnTo>
                  <a:pt x="5804607" y="0"/>
                </a:lnTo>
                <a:lnTo>
                  <a:pt x="5804607" y="5804608"/>
                </a:lnTo>
                <a:lnTo>
                  <a:pt x="0" y="5804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9144000" y="2230873"/>
            <a:ext cx="5804607" cy="5804607"/>
          </a:xfrm>
          <a:custGeom>
            <a:avLst/>
            <a:gdLst/>
            <a:ahLst/>
            <a:cxnLst/>
            <a:rect l="l" t="t" r="r" b="b"/>
            <a:pathLst>
              <a:path w="5804607" h="5804607">
                <a:moveTo>
                  <a:pt x="0" y="0"/>
                </a:moveTo>
                <a:lnTo>
                  <a:pt x="5804607" y="0"/>
                </a:lnTo>
                <a:lnTo>
                  <a:pt x="5804607" y="5804608"/>
                </a:lnTo>
                <a:lnTo>
                  <a:pt x="0" y="58046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5143526" y="7597308"/>
            <a:ext cx="8233265" cy="8233265"/>
          </a:xfrm>
          <a:custGeom>
            <a:avLst/>
            <a:gdLst/>
            <a:ahLst/>
            <a:cxnLst/>
            <a:rect l="l" t="t" r="r" b="b"/>
            <a:pathLst>
              <a:path w="8233265" h="8233265">
                <a:moveTo>
                  <a:pt x="0" y="0"/>
                </a:moveTo>
                <a:lnTo>
                  <a:pt x="8233265" y="0"/>
                </a:lnTo>
                <a:lnTo>
                  <a:pt x="8233265" y="8233265"/>
                </a:lnTo>
                <a:lnTo>
                  <a:pt x="0" y="8233265"/>
                </a:lnTo>
                <a:lnTo>
                  <a:pt x="0" y="0"/>
                </a:lnTo>
                <a:close/>
              </a:path>
            </a:pathLst>
          </a:custGeom>
          <a:blipFill>
            <a:blip r:embed="rId6">
              <a:alphaModFix amt="96000"/>
              <a:extLst>
                <a:ext uri="{96DAC541-7B7A-43D3-8B79-37D633B846F1}">
                  <asvg:svgBlip xmlns:asvg="http://schemas.microsoft.com/office/drawing/2016/SVG/main" r:embed="rId7"/>
                </a:ext>
              </a:extLst>
            </a:blip>
            <a:stretch>
              <a:fillRect/>
            </a:stretch>
          </a:blipFill>
        </p:spPr>
      </p:sp>
      <p:sp>
        <p:nvSpPr>
          <p:cNvPr id="5" name="Freeform 5"/>
          <p:cNvSpPr/>
          <p:nvPr/>
        </p:nvSpPr>
        <p:spPr>
          <a:xfrm>
            <a:off x="15980388" y="1346208"/>
            <a:ext cx="1740378" cy="1769331"/>
          </a:xfrm>
          <a:custGeom>
            <a:avLst/>
            <a:gdLst/>
            <a:ahLst/>
            <a:cxnLst/>
            <a:rect l="l" t="t" r="r" b="b"/>
            <a:pathLst>
              <a:path w="1740378" h="1769331">
                <a:moveTo>
                  <a:pt x="0" y="0"/>
                </a:moveTo>
                <a:lnTo>
                  <a:pt x="1740378" y="0"/>
                </a:lnTo>
                <a:lnTo>
                  <a:pt x="1740378" y="1769331"/>
                </a:lnTo>
                <a:lnTo>
                  <a:pt x="0" y="176933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a:off x="13448701" y="6288865"/>
            <a:ext cx="1499906" cy="1746616"/>
          </a:xfrm>
          <a:custGeom>
            <a:avLst/>
            <a:gdLst/>
            <a:ahLst/>
            <a:cxnLst/>
            <a:rect l="l" t="t" r="r" b="b"/>
            <a:pathLst>
              <a:path w="1499906" h="1746616">
                <a:moveTo>
                  <a:pt x="0" y="0"/>
                </a:moveTo>
                <a:lnTo>
                  <a:pt x="1499906" y="0"/>
                </a:lnTo>
                <a:lnTo>
                  <a:pt x="1499906" y="1746616"/>
                </a:lnTo>
                <a:lnTo>
                  <a:pt x="0" y="174661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7" name="TextBox 7"/>
          <p:cNvSpPr txBox="1"/>
          <p:nvPr/>
        </p:nvSpPr>
        <p:spPr>
          <a:xfrm>
            <a:off x="1592828" y="4803910"/>
            <a:ext cx="7122369" cy="1408034"/>
          </a:xfrm>
          <a:prstGeom prst="rect">
            <a:avLst/>
          </a:prstGeom>
        </p:spPr>
        <p:txBody>
          <a:bodyPr lIns="0" tIns="0" rIns="0" bIns="0" rtlCol="0" anchor="t">
            <a:spAutoFit/>
          </a:bodyPr>
          <a:lstStyle/>
          <a:p>
            <a:pPr algn="l">
              <a:lnSpc>
                <a:spcPts val="11180"/>
              </a:lnSpc>
            </a:pPr>
            <a:r>
              <a:rPr lang="en-US" sz="9090">
                <a:solidFill>
                  <a:srgbClr val="000000"/>
                </a:solidFill>
                <a:latin typeface="League Spartan"/>
                <a:ea typeface="League Spartan"/>
                <a:cs typeface="League Spartan"/>
                <a:sym typeface="League Spartan"/>
              </a:rPr>
              <a:t>Thank you</a:t>
            </a:r>
          </a:p>
        </p:txBody>
      </p:sp>
      <p:sp>
        <p:nvSpPr>
          <p:cNvPr id="8" name="AutoShape 8"/>
          <p:cNvSpPr/>
          <p:nvPr/>
        </p:nvSpPr>
        <p:spPr>
          <a:xfrm>
            <a:off x="1592828" y="1346208"/>
            <a:ext cx="2494042" cy="0"/>
          </a:xfrm>
          <a:prstGeom prst="line">
            <a:avLst/>
          </a:prstGeom>
          <a:ln w="647700" cap="rnd">
            <a:solidFill>
              <a:srgbClr val="000000"/>
            </a:solidFill>
            <a:prstDash val="solid"/>
            <a:headEnd type="none" w="sm" len="sm"/>
            <a:tailEnd type="none" w="sm" len="sm"/>
          </a:ln>
        </p:spPr>
      </p:sp>
      <p:sp>
        <p:nvSpPr>
          <p:cNvPr id="9" name="TextBox 9"/>
          <p:cNvSpPr txBox="1"/>
          <p:nvPr/>
        </p:nvSpPr>
        <p:spPr>
          <a:xfrm>
            <a:off x="1953755" y="1168400"/>
            <a:ext cx="1772188" cy="469900"/>
          </a:xfrm>
          <a:prstGeom prst="rect">
            <a:avLst/>
          </a:prstGeom>
        </p:spPr>
        <p:txBody>
          <a:bodyPr lIns="0" tIns="0" rIns="0" bIns="0" rtlCol="0" anchor="t">
            <a:spAutoFit/>
          </a:bodyPr>
          <a:lstStyle/>
          <a:p>
            <a:pPr algn="ctr">
              <a:lnSpc>
                <a:spcPts val="3499"/>
              </a:lnSpc>
            </a:pPr>
            <a:r>
              <a:rPr lang="en-US" sz="2499" dirty="0">
                <a:solidFill>
                  <a:srgbClr val="FFFFFF"/>
                </a:solidFill>
                <a:latin typeface="Futura"/>
                <a:ea typeface="Futura"/>
                <a:cs typeface="Futura"/>
                <a:sym typeface="Futura"/>
              </a:rPr>
              <a:t>End</a:t>
            </a:r>
          </a:p>
        </p:txBody>
      </p:sp>
      <p:sp>
        <p:nvSpPr>
          <p:cNvPr id="10" name="TextBox 10"/>
          <p:cNvSpPr txBox="1"/>
          <p:nvPr/>
        </p:nvSpPr>
        <p:spPr>
          <a:xfrm>
            <a:off x="1684420" y="6230935"/>
            <a:ext cx="6233659" cy="423193"/>
          </a:xfrm>
          <a:prstGeom prst="rect">
            <a:avLst/>
          </a:prstGeom>
        </p:spPr>
        <p:txBody>
          <a:bodyPr lIns="0" tIns="0" rIns="0" bIns="0" rtlCol="0" anchor="t">
            <a:spAutoFit/>
          </a:bodyPr>
          <a:lstStyle/>
          <a:p>
            <a:pPr algn="l">
              <a:lnSpc>
                <a:spcPts val="3690"/>
              </a:lnSpc>
            </a:pPr>
            <a:r>
              <a:rPr lang="en-US" sz="3000" dirty="0">
                <a:solidFill>
                  <a:srgbClr val="000000"/>
                </a:solidFill>
                <a:latin typeface="Futura"/>
                <a:ea typeface="Futura"/>
                <a:cs typeface="Futura"/>
                <a:sym typeface="Futura"/>
              </a:rPr>
              <a:t>Do you have any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670</TotalTime>
  <Words>617</Words>
  <Application>Microsoft Office PowerPoint</Application>
  <PresentationFormat>Custom</PresentationFormat>
  <Paragraphs>131</Paragraphs>
  <Slides>17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Calibri</vt:lpstr>
      <vt:lpstr>League Spartan</vt:lpstr>
      <vt:lpstr>Futura</vt:lpstr>
      <vt:lpstr>Courier New</vt:lpstr>
      <vt:lpstr>Times New Roman</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Minimalist professional corporate Marketing Plan charts and graphs presentation</dc:title>
  <dc:creator>VICTUS</dc:creator>
  <cp:lastModifiedBy>kshitij lokhande</cp:lastModifiedBy>
  <cp:revision>16</cp:revision>
  <dcterms:created xsi:type="dcterms:W3CDTF">2006-08-16T00:00:00Z</dcterms:created>
  <dcterms:modified xsi:type="dcterms:W3CDTF">2026-02-23T15:16:44Z</dcterms:modified>
  <dc:identifier>DAHBd1FJbMQ</dc:identifier>
</cp:coreProperties>
</file>